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8"/>
  </p:notesMasterIdLst>
  <p:sldIdLst>
    <p:sldId id="256" r:id="rId2"/>
    <p:sldId id="258" r:id="rId3"/>
    <p:sldId id="261" r:id="rId4"/>
    <p:sldId id="266" r:id="rId5"/>
    <p:sldId id="268" r:id="rId6"/>
    <p:sldId id="265" r:id="rId7"/>
    <p:sldId id="262" r:id="rId8"/>
    <p:sldId id="282" r:id="rId9"/>
    <p:sldId id="272" r:id="rId10"/>
    <p:sldId id="307" r:id="rId11"/>
    <p:sldId id="308" r:id="rId12"/>
    <p:sldId id="273" r:id="rId13"/>
    <p:sldId id="309" r:id="rId14"/>
    <p:sldId id="310" r:id="rId15"/>
    <p:sldId id="279" r:id="rId16"/>
    <p:sldId id="271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Sora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65ACB4-310E-4EC9-B797-81528BE0BA86}">
  <a:tblStyle styleId="{D065ACB4-310E-4EC9-B797-81528BE0BA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d1bf8d60a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d1bf8d60a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d1bf8d60a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d1bf8d60a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d1bf8d60a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d1bf8d60a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0f41e19245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0f41e19245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d1bf8d60a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d1bf8d60a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d1bf8d60a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d1bf8d60a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704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d1bf8d60a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d1bf8d60a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243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d1bf8d60a4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d1bf8d60a4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d1bf8d60a4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d1bf8d60a4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639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d1bf8d60a4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d1bf8d60a4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078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d1bf8d60a4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d1bf8d60a4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0f41e19245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0f41e19245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4" name="Google Shape;64;p6"/>
            <p:cNvCxnSpPr/>
            <p:nvPr/>
          </p:nvCxnSpPr>
          <p:spPr>
            <a:xfrm rot="-5400000" flipH="1">
              <a:off x="-2079325" y="1859333"/>
              <a:ext cx="4747800" cy="149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>
            <a:spLocks noGrp="1"/>
          </p:cNvSpPr>
          <p:nvPr>
            <p:ph type="subTitle" idx="1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73;p7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74" name="Google Shape;74;p7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75" name="Google Shape;75;p7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ubTitle" idx="1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>
            <a:spLocks noGrp="1"/>
          </p:cNvSpPr>
          <p:nvPr>
            <p:ph type="pic" idx="2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87" name="Google Shape;87;p9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88" name="Google Shape;88;p9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92" name="Google Shape;92;p9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name="adj1" fmla="val 6414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93" name="Google Shape;93;p9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name="adj1" fmla="val 34437"/>
                <a:gd name="adj2" fmla="val 30563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0"/>
          <p:cNvSpPr txBox="1">
            <a:spLocks noGrp="1"/>
          </p:cNvSpPr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3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4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 hasCustomPrompt="1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2" name="Google Shape;142;p15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143" name="Google Shape;143;p15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145;p15"/>
          <p:cNvGrpSpPr/>
          <p:nvPr/>
        </p:nvGrpSpPr>
        <p:grpSpPr>
          <a:xfrm rot="10800000" flipH="1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146" name="Google Shape;146;p15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name="adj1" fmla="val 434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47" name="Google Shape;147;p15"/>
            <p:cNvCxnSpPr/>
            <p:nvPr/>
          </p:nvCxnSpPr>
          <p:spPr>
            <a:xfrm rot="-5400000" flipH="1">
              <a:off x="-2164550" y="1408116"/>
              <a:ext cx="4877100" cy="9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rot="-5400000" flipH="1">
              <a:off x="6857075" y="1775500"/>
              <a:ext cx="4097100" cy="187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6" name="Google Shape;166;p17"/>
            <p:cNvCxnSpPr/>
            <p:nvPr/>
          </p:nvCxnSpPr>
          <p:spPr>
            <a:xfrm rot="10800000" flipH="1">
              <a:off x="667900" y="4271400"/>
              <a:ext cx="2765700" cy="96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7" name="Google Shape;167;p17"/>
            <p:cNvCxnSpPr/>
            <p:nvPr/>
          </p:nvCxnSpPr>
          <p:spPr>
            <a:xfrm rot="5400000" flipH="1">
              <a:off x="7318025" y="3907700"/>
              <a:ext cx="3045000" cy="33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8" name="Google Shape;168;p17"/>
            <p:cNvCxnSpPr/>
            <p:nvPr/>
          </p:nvCxnSpPr>
          <p:spPr>
            <a:xfrm rot="5400000" flipH="1">
              <a:off x="7083950" y="4541675"/>
              <a:ext cx="3325500" cy="317400"/>
            </a:xfrm>
            <a:prstGeom prst="bentConnector3">
              <a:avLst>
                <a:gd name="adj1" fmla="val 6457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9" name="Google Shape;169;p17"/>
            <p:cNvCxnSpPr/>
            <p:nvPr/>
          </p:nvCxnSpPr>
          <p:spPr>
            <a:xfrm rot="10800000" flipH="1">
              <a:off x="-320650" y="4087825"/>
              <a:ext cx="5808300" cy="878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0"/>
          <p:cNvSpPr txBox="1">
            <a:spLocks noGrp="1"/>
          </p:cNvSpPr>
          <p:nvPr>
            <p:ph type="subTitle" idx="1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0" name="Google Shape;200;p20"/>
          <p:cNvSpPr txBox="1">
            <a:spLocks noGrp="1"/>
          </p:cNvSpPr>
          <p:nvPr>
            <p:ph type="subTitle" idx="2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1" name="Google Shape;201;p20"/>
          <p:cNvSpPr txBox="1">
            <a:spLocks noGrp="1"/>
          </p:cNvSpPr>
          <p:nvPr>
            <p:ph type="subTitle" idx="3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2" name="Google Shape;202;p20"/>
          <p:cNvSpPr txBox="1">
            <a:spLocks noGrp="1"/>
          </p:cNvSpPr>
          <p:nvPr>
            <p:ph type="subTitle" idx="4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03" name="Google Shape;203;p20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name="adj1" fmla="val 81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cxnSp>
          <p:nvCxnSpPr>
            <p:cNvPr id="207" name="Google Shape;207;p20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name="adj1" fmla="val 4694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09" name="Google Shape;209;p20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210" name="Google Shape;210;p20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211" name="Google Shape;211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" name="Google Shape;213;p20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214" name="Google Shape;214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>
            <a:spLocks noGrp="1"/>
          </p:cNvSpPr>
          <p:nvPr>
            <p:ph type="subTitle" idx="1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3"/>
          <p:cNvSpPr txBox="1">
            <a:spLocks noGrp="1"/>
          </p:cNvSpPr>
          <p:nvPr>
            <p:ph type="subTitle" idx="2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3"/>
          <p:cNvSpPr txBox="1">
            <a:spLocks noGrp="1"/>
          </p:cNvSpPr>
          <p:nvPr>
            <p:ph type="subTitle" idx="3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3"/>
          <p:cNvSpPr txBox="1">
            <a:spLocks noGrp="1"/>
          </p:cNvSpPr>
          <p:nvPr>
            <p:ph type="subTitle" idx="4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8" name="Google Shape;258;p23"/>
          <p:cNvSpPr txBox="1">
            <a:spLocks noGrp="1"/>
          </p:cNvSpPr>
          <p:nvPr>
            <p:ph type="subTitle" idx="5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9" name="Google Shape;259;p23"/>
          <p:cNvSpPr txBox="1">
            <a:spLocks noGrp="1"/>
          </p:cNvSpPr>
          <p:nvPr>
            <p:ph type="subTitle" idx="6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60" name="Google Shape;260;p23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261" name="Google Shape;261;p23"/>
            <p:cNvSpPr/>
            <p:nvPr/>
          </p:nvSpPr>
          <p:spPr>
            <a:xfrm>
              <a:off x="8937302" y="74717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8577884" y="2792122"/>
              <a:ext cx="181108" cy="18110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8577868" y="4353966"/>
              <a:ext cx="132993" cy="132993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" name="Google Shape;264;p23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265" name="Google Shape;265;p2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9059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66" name="Google Shape;266;p2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9476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4"/>
          <p:cNvSpPr txBox="1">
            <a:spLocks noGrp="1"/>
          </p:cNvSpPr>
          <p:nvPr>
            <p:ph type="subTitle" idx="1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4"/>
          <p:cNvSpPr txBox="1">
            <a:spLocks noGrp="1"/>
          </p:cNvSpPr>
          <p:nvPr>
            <p:ph type="subTitle" idx="2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4"/>
          <p:cNvSpPr txBox="1">
            <a:spLocks noGrp="1"/>
          </p:cNvSpPr>
          <p:nvPr>
            <p:ph type="subTitle" idx="3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ubTitle" idx="4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ubTitle" idx="5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4" name="Google Shape;274;p24"/>
          <p:cNvSpPr txBox="1">
            <a:spLocks noGrp="1"/>
          </p:cNvSpPr>
          <p:nvPr>
            <p:ph type="subTitle" idx="6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subTitle" idx="7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6" name="Google Shape;276;p24"/>
          <p:cNvSpPr txBox="1">
            <a:spLocks noGrp="1"/>
          </p:cNvSpPr>
          <p:nvPr>
            <p:ph type="subTitle" idx="8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8" r:id="rId6"/>
    <p:sldLayoutId id="2147483659" r:id="rId7"/>
    <p:sldLayoutId id="2147483661" r:id="rId8"/>
    <p:sldLayoutId id="2147483662" r:id="rId9"/>
    <p:sldLayoutId id="2147483663" r:id="rId10"/>
    <p:sldLayoutId id="2147483666" r:id="rId11"/>
    <p:sldLayoutId id="2147483669" r:id="rId12"/>
    <p:sldLayoutId id="2147483670" r:id="rId13"/>
    <p:sldLayoutId id="2147483674" r:id="rId14"/>
    <p:sldLayoutId id="214748367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LoanBuddy: Loan Approval Prediction</a:t>
            </a:r>
            <a:endParaRPr sz="4000" dirty="0"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997199"/>
            <a:ext cx="4260000" cy="8361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Prastuti Acharya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23056304</a:t>
            </a:r>
            <a:endParaRPr dirty="0"/>
          </a:p>
        </p:txBody>
      </p:sp>
      <p:cxnSp>
        <p:nvCxnSpPr>
          <p:cNvPr id="370" name="Google Shape;370;p33"/>
          <p:cNvCxnSpPr>
            <a:cxnSpLocks/>
            <a:endCxn id="369" idx="1"/>
          </p:cNvCxnSpPr>
          <p:nvPr/>
        </p:nvCxnSpPr>
        <p:spPr>
          <a:xfrm rot="16200000" flipH="1">
            <a:off x="1869597" y="1127153"/>
            <a:ext cx="4230906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50" name="Google Shape;450;p35"/>
          <p:cNvSpPr txBox="1">
            <a:spLocks noGrp="1"/>
          </p:cNvSpPr>
          <p:nvPr>
            <p:ph type="subTitle" idx="3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 through algorithmic representation</a:t>
            </a:r>
            <a:endParaRPr sz="1600" dirty="0">
              <a:solidFill>
                <a:srgbClr val="666666"/>
              </a:solidFill>
            </a:endParaRPr>
          </a:p>
        </p:txBody>
      </p:sp>
      <p:sp>
        <p:nvSpPr>
          <p:cNvPr id="451" name="Google Shape;451;p35"/>
          <p:cNvSpPr txBox="1">
            <a:spLocks noGrp="1"/>
          </p:cNvSpPr>
          <p:nvPr>
            <p:ph type="subTitle" idx="1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Brief introduction of the topic and concepts used</a:t>
            </a:r>
            <a:endParaRPr dirty="0"/>
          </a:p>
        </p:txBody>
      </p:sp>
      <p:sp>
        <p:nvSpPr>
          <p:cNvPr id="452" name="Google Shape;452;p35"/>
          <p:cNvSpPr txBox="1">
            <a:spLocks noGrp="1"/>
          </p:cNvSpPr>
          <p:nvPr>
            <p:ph type="subTitle" idx="2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mechanism and solution developed</a:t>
            </a:r>
            <a:endParaRPr dirty="0"/>
          </a:p>
        </p:txBody>
      </p:sp>
      <p:sp>
        <p:nvSpPr>
          <p:cNvPr id="453" name="Google Shape;453;p35"/>
          <p:cNvSpPr txBox="1">
            <a:spLocks noGrp="1"/>
          </p:cNvSpPr>
          <p:nvPr>
            <p:ph type="subTitle" idx="4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 of the model</a:t>
            </a:r>
            <a:endParaRPr dirty="0"/>
          </a:p>
        </p:txBody>
      </p:sp>
      <p:sp>
        <p:nvSpPr>
          <p:cNvPr id="454" name="Google Shape;454;p35"/>
          <p:cNvSpPr txBox="1">
            <a:spLocks noGrp="1"/>
          </p:cNvSpPr>
          <p:nvPr>
            <p:ph type="title" idx="5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55" name="Google Shape;455;p35"/>
          <p:cNvSpPr txBox="1">
            <a:spLocks noGrp="1"/>
          </p:cNvSpPr>
          <p:nvPr>
            <p:ph type="title" idx="7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6" name="Google Shape;456;p35"/>
          <p:cNvSpPr txBox="1">
            <a:spLocks noGrp="1"/>
          </p:cNvSpPr>
          <p:nvPr>
            <p:ph type="title" idx="8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57" name="Google Shape;457;p35"/>
          <p:cNvSpPr txBox="1">
            <a:spLocks noGrp="1"/>
          </p:cNvSpPr>
          <p:nvPr>
            <p:ph type="title" idx="6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58" name="Google Shape;458;p35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Topic</a:t>
            </a:r>
            <a:endParaRPr dirty="0"/>
          </a:p>
        </p:txBody>
      </p:sp>
      <p:sp>
        <p:nvSpPr>
          <p:cNvPr id="459" name="Google Shape;459;p35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460" name="Google Shape;460;p35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Synthesis of Information</a:t>
            </a:r>
            <a:endParaRPr dirty="0"/>
          </a:p>
        </p:txBody>
      </p:sp>
      <p:sp>
        <p:nvSpPr>
          <p:cNvPr id="461" name="Google Shape;461;p35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526" name="Google Shape;526;p38"/>
          <p:cNvSpPr txBox="1">
            <a:spLocks noGrp="1"/>
          </p:cNvSpPr>
          <p:nvPr>
            <p:ph type="subTitle" idx="2"/>
          </p:nvPr>
        </p:nvSpPr>
        <p:spPr>
          <a:xfrm>
            <a:off x="777968" y="1033252"/>
            <a:ext cx="7646031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LoanBuddy</a:t>
            </a:r>
            <a:r>
              <a:rPr lang="en" dirty="0"/>
              <a:t> </a:t>
            </a:r>
            <a:r>
              <a:rPr lang="en-US" dirty="0"/>
              <a:t>works by taking the user’s financial and personal details, processing it through a trained and tested model and predicting the result. The AI concepts used in developing this model are:</a:t>
            </a:r>
            <a:endParaRPr dirty="0"/>
          </a:p>
        </p:txBody>
      </p:sp>
      <p:sp>
        <p:nvSpPr>
          <p:cNvPr id="7" name="Google Shape;633;p41">
            <a:extLst>
              <a:ext uri="{FF2B5EF4-FFF2-40B4-BE49-F238E27FC236}">
                <a16:creationId xmlns:a16="http://schemas.microsoft.com/office/drawing/2014/main" id="{C7F452D4-5B21-A99C-A3D7-CA0B7F5327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7967" y="2386448"/>
            <a:ext cx="2277715" cy="1176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Used for binary classification problems.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 classifies the outcomes into categories.</a:t>
            </a:r>
            <a:endParaRPr dirty="0"/>
          </a:p>
        </p:txBody>
      </p:sp>
      <p:sp>
        <p:nvSpPr>
          <p:cNvPr id="8" name="Google Shape;634;p41">
            <a:extLst>
              <a:ext uri="{FF2B5EF4-FFF2-40B4-BE49-F238E27FC236}">
                <a16:creationId xmlns:a16="http://schemas.microsoft.com/office/drawing/2014/main" id="{780E7BC7-7B2D-F052-A6F9-6175BF4A5366}"/>
              </a:ext>
            </a:extLst>
          </p:cNvPr>
          <p:cNvSpPr txBox="1">
            <a:spLocks/>
          </p:cNvSpPr>
          <p:nvPr/>
        </p:nvSpPr>
        <p:spPr>
          <a:xfrm>
            <a:off x="3324692" y="2386449"/>
            <a:ext cx="2277715" cy="117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dirty="0"/>
              <a:t>Classifies the data into branches based on a decision to make predictions.</a:t>
            </a:r>
          </a:p>
        </p:txBody>
      </p:sp>
      <p:sp>
        <p:nvSpPr>
          <p:cNvPr id="10" name="Google Shape;636;p41">
            <a:extLst>
              <a:ext uri="{FF2B5EF4-FFF2-40B4-BE49-F238E27FC236}">
                <a16:creationId xmlns:a16="http://schemas.microsoft.com/office/drawing/2014/main" id="{606CEBA0-56CD-F42D-D640-C1C8EE159A46}"/>
              </a:ext>
            </a:extLst>
          </p:cNvPr>
          <p:cNvSpPr txBox="1">
            <a:spLocks/>
          </p:cNvSpPr>
          <p:nvPr/>
        </p:nvSpPr>
        <p:spPr>
          <a:xfrm>
            <a:off x="777970" y="2075901"/>
            <a:ext cx="2277715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Logistic Regression</a:t>
            </a:r>
          </a:p>
        </p:txBody>
      </p:sp>
      <p:sp>
        <p:nvSpPr>
          <p:cNvPr id="11" name="Google Shape;637;p41">
            <a:extLst>
              <a:ext uri="{FF2B5EF4-FFF2-40B4-BE49-F238E27FC236}">
                <a16:creationId xmlns:a16="http://schemas.microsoft.com/office/drawing/2014/main" id="{75AFC332-92C3-D16E-2B1C-7BDF2807DB33}"/>
              </a:ext>
            </a:extLst>
          </p:cNvPr>
          <p:cNvSpPr txBox="1">
            <a:spLocks/>
          </p:cNvSpPr>
          <p:nvPr/>
        </p:nvSpPr>
        <p:spPr>
          <a:xfrm>
            <a:off x="3324692" y="2075901"/>
            <a:ext cx="2277715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Decision Tree Classifier</a:t>
            </a:r>
          </a:p>
        </p:txBody>
      </p:sp>
      <p:sp>
        <p:nvSpPr>
          <p:cNvPr id="12" name="Google Shape;638;p41">
            <a:extLst>
              <a:ext uri="{FF2B5EF4-FFF2-40B4-BE49-F238E27FC236}">
                <a16:creationId xmlns:a16="http://schemas.microsoft.com/office/drawing/2014/main" id="{26022CCE-F9AD-82E4-21E4-4F201D364031}"/>
              </a:ext>
            </a:extLst>
          </p:cNvPr>
          <p:cNvSpPr txBox="1">
            <a:spLocks/>
          </p:cNvSpPr>
          <p:nvPr/>
        </p:nvSpPr>
        <p:spPr>
          <a:xfrm>
            <a:off x="5871417" y="2075901"/>
            <a:ext cx="2350868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Random Forest Classifier</a:t>
            </a:r>
          </a:p>
        </p:txBody>
      </p:sp>
      <p:sp>
        <p:nvSpPr>
          <p:cNvPr id="18" name="Google Shape;634;p41">
            <a:extLst>
              <a:ext uri="{FF2B5EF4-FFF2-40B4-BE49-F238E27FC236}">
                <a16:creationId xmlns:a16="http://schemas.microsoft.com/office/drawing/2014/main" id="{609C1B83-4F8C-81BF-89B5-61DD780833D0}"/>
              </a:ext>
            </a:extLst>
          </p:cNvPr>
          <p:cNvSpPr txBox="1">
            <a:spLocks/>
          </p:cNvSpPr>
          <p:nvPr/>
        </p:nvSpPr>
        <p:spPr>
          <a:xfrm>
            <a:off x="5871417" y="2386448"/>
            <a:ext cx="2277715" cy="139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dirty="0"/>
              <a:t>An ensemble learning algorithm which combines multiple decision trees to predict using voting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</a:t>
            </a:r>
            <a:endParaRPr dirty="0"/>
          </a:p>
        </p:txBody>
      </p:sp>
      <p:sp>
        <p:nvSpPr>
          <p:cNvPr id="726" name="Google Shape;726;p43"/>
          <p:cNvSpPr txBox="1">
            <a:spLocks noGrp="1"/>
          </p:cNvSpPr>
          <p:nvPr>
            <p:ph type="subTitle" idx="1"/>
          </p:nvPr>
        </p:nvSpPr>
        <p:spPr>
          <a:xfrm>
            <a:off x="720000" y="2571749"/>
            <a:ext cx="2752047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With the use of algorithms like logistic regression, decision tree classifier and random forest classifier, AI model for loan prediction with 89% accuracy was developed.</a:t>
            </a:r>
            <a:endParaRPr dirty="0"/>
          </a:p>
        </p:txBody>
      </p:sp>
      <p:sp>
        <p:nvSpPr>
          <p:cNvPr id="727" name="Google Shape;727;p43"/>
          <p:cNvSpPr txBox="1">
            <a:spLocks noGrp="1"/>
          </p:cNvSpPr>
          <p:nvPr>
            <p:ph type="subTitle" idx="2"/>
          </p:nvPr>
        </p:nvSpPr>
        <p:spPr>
          <a:xfrm>
            <a:off x="5543559" y="2586921"/>
            <a:ext cx="2686042" cy="13925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logistic regression, random forest classifier and Support Vector Machine(SVM) algorithms, model accuracy was found to be an average of 84.5%.</a:t>
            </a:r>
            <a:endParaRPr dirty="0"/>
          </a:p>
        </p:txBody>
      </p:sp>
      <p:sp>
        <p:nvSpPr>
          <p:cNvPr id="729" name="Google Shape;729;p43"/>
          <p:cNvSpPr txBox="1">
            <a:spLocks noGrp="1"/>
          </p:cNvSpPr>
          <p:nvPr>
            <p:ph type="subTitle" idx="4"/>
          </p:nvPr>
        </p:nvSpPr>
        <p:spPr>
          <a:xfrm>
            <a:off x="720000" y="1266603"/>
            <a:ext cx="2619286" cy="13051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Intelligent Loan Assistant using Machine Learning and Data Science </a:t>
            </a:r>
            <a:endParaRPr sz="1600" dirty="0"/>
          </a:p>
        </p:txBody>
      </p:sp>
      <p:sp>
        <p:nvSpPr>
          <p:cNvPr id="730" name="Google Shape;730;p43"/>
          <p:cNvSpPr txBox="1">
            <a:spLocks noGrp="1"/>
          </p:cNvSpPr>
          <p:nvPr>
            <p:ph type="subTitle" idx="5"/>
          </p:nvPr>
        </p:nvSpPr>
        <p:spPr>
          <a:xfrm>
            <a:off x="5543558" y="1260359"/>
            <a:ext cx="2552129" cy="13051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TRUSTNOVA: A Predictive Machine Learning Model for Loan Approval </a:t>
            </a:r>
            <a:endParaRPr sz="1600" dirty="0"/>
          </a:p>
        </p:txBody>
      </p:sp>
      <p:sp>
        <p:nvSpPr>
          <p:cNvPr id="50" name="Google Shape;1776;p64">
            <a:extLst>
              <a:ext uri="{FF2B5EF4-FFF2-40B4-BE49-F238E27FC236}">
                <a16:creationId xmlns:a16="http://schemas.microsoft.com/office/drawing/2014/main" id="{6862BD09-DF66-6B71-4A01-1D3B4036FF14}"/>
              </a:ext>
            </a:extLst>
          </p:cNvPr>
          <p:cNvSpPr/>
          <p:nvPr/>
        </p:nvSpPr>
        <p:spPr>
          <a:xfrm>
            <a:off x="4532513" y="2565422"/>
            <a:ext cx="67234" cy="124016"/>
          </a:xfrm>
          <a:custGeom>
            <a:avLst/>
            <a:gdLst/>
            <a:ahLst/>
            <a:cxnLst/>
            <a:rect l="l" t="t" r="r" b="b"/>
            <a:pathLst>
              <a:path w="4104" h="7570" extrusionOk="0">
                <a:moveTo>
                  <a:pt x="1" y="1"/>
                </a:moveTo>
                <a:lnTo>
                  <a:pt x="1" y="7569"/>
                </a:lnTo>
                <a:lnTo>
                  <a:pt x="4104" y="7569"/>
                </a:lnTo>
                <a:lnTo>
                  <a:pt x="41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1777;p64">
            <a:extLst>
              <a:ext uri="{FF2B5EF4-FFF2-40B4-BE49-F238E27FC236}">
                <a16:creationId xmlns:a16="http://schemas.microsoft.com/office/drawing/2014/main" id="{4EA192FD-02DF-3C27-94CA-2C7C231D9608}"/>
              </a:ext>
            </a:extLst>
          </p:cNvPr>
          <p:cNvSpPr/>
          <p:nvPr/>
        </p:nvSpPr>
        <p:spPr>
          <a:xfrm>
            <a:off x="4598234" y="2417040"/>
            <a:ext cx="396899" cy="316231"/>
          </a:xfrm>
          <a:custGeom>
            <a:avLst/>
            <a:gdLst/>
            <a:ahLst/>
            <a:cxnLst/>
            <a:rect l="l" t="t" r="r" b="b"/>
            <a:pathLst>
              <a:path w="24227" h="19303" extrusionOk="0">
                <a:moveTo>
                  <a:pt x="62" y="9059"/>
                </a:moveTo>
                <a:cubicBezTo>
                  <a:pt x="62" y="9059"/>
                  <a:pt x="5746" y="1034"/>
                  <a:pt x="16627" y="1"/>
                </a:cubicBezTo>
                <a:lnTo>
                  <a:pt x="16354" y="9089"/>
                </a:lnTo>
                <a:cubicBezTo>
                  <a:pt x="16323" y="10396"/>
                  <a:pt x="16688" y="11673"/>
                  <a:pt x="17478" y="12676"/>
                </a:cubicBezTo>
                <a:cubicBezTo>
                  <a:pt x="18542" y="13983"/>
                  <a:pt x="20579" y="15168"/>
                  <a:pt x="24226" y="14104"/>
                </a:cubicBezTo>
                <a:cubicBezTo>
                  <a:pt x="24226" y="14104"/>
                  <a:pt x="17843" y="17782"/>
                  <a:pt x="10183" y="18816"/>
                </a:cubicBezTo>
                <a:cubicBezTo>
                  <a:pt x="6657" y="19302"/>
                  <a:pt x="3040" y="18512"/>
                  <a:pt x="1" y="16627"/>
                </a:cubicBezTo>
                <a:lnTo>
                  <a:pt x="1" y="16627"/>
                </a:lnTo>
                <a:lnTo>
                  <a:pt x="1" y="905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1778;p64">
            <a:extLst>
              <a:ext uri="{FF2B5EF4-FFF2-40B4-BE49-F238E27FC236}">
                <a16:creationId xmlns:a16="http://schemas.microsoft.com/office/drawing/2014/main" id="{BA835DA1-CB00-A2FA-FA90-179617BE16B5}"/>
              </a:ext>
            </a:extLst>
          </p:cNvPr>
          <p:cNvSpPr/>
          <p:nvPr/>
        </p:nvSpPr>
        <p:spPr>
          <a:xfrm>
            <a:off x="4859483" y="2389159"/>
            <a:ext cx="314888" cy="265954"/>
          </a:xfrm>
          <a:custGeom>
            <a:avLst/>
            <a:gdLst/>
            <a:ahLst/>
            <a:cxnLst/>
            <a:rect l="l" t="t" r="r" b="b"/>
            <a:pathLst>
              <a:path w="19221" h="16234" extrusionOk="0">
                <a:moveTo>
                  <a:pt x="12838" y="1"/>
                </a:moveTo>
                <a:cubicBezTo>
                  <a:pt x="4509" y="548"/>
                  <a:pt x="588" y="4864"/>
                  <a:pt x="588" y="4864"/>
                </a:cubicBezTo>
                <a:lnTo>
                  <a:pt x="436" y="10791"/>
                </a:lnTo>
                <a:cubicBezTo>
                  <a:pt x="0" y="13945"/>
                  <a:pt x="2549" y="16234"/>
                  <a:pt x="5730" y="16234"/>
                </a:cubicBezTo>
                <a:cubicBezTo>
                  <a:pt x="6319" y="16234"/>
                  <a:pt x="6931" y="16155"/>
                  <a:pt x="7549" y="15989"/>
                </a:cubicBezTo>
                <a:lnTo>
                  <a:pt x="13141" y="14530"/>
                </a:lnTo>
                <a:lnTo>
                  <a:pt x="16333" y="11186"/>
                </a:lnTo>
                <a:lnTo>
                  <a:pt x="19221" y="7265"/>
                </a:lnTo>
                <a:lnTo>
                  <a:pt x="17488" y="5776"/>
                </a:lnTo>
                <a:lnTo>
                  <a:pt x="14084" y="7083"/>
                </a:lnTo>
                <a:lnTo>
                  <a:pt x="10953" y="8299"/>
                </a:lnTo>
                <a:lnTo>
                  <a:pt x="6181" y="8299"/>
                </a:lnTo>
                <a:lnTo>
                  <a:pt x="5421" y="6171"/>
                </a:lnTo>
                <a:cubicBezTo>
                  <a:pt x="9737" y="3891"/>
                  <a:pt x="12838" y="3648"/>
                  <a:pt x="12838" y="3648"/>
                </a:cubicBezTo>
                <a:lnTo>
                  <a:pt x="13476" y="2432"/>
                </a:lnTo>
                <a:lnTo>
                  <a:pt x="12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1779;p64">
            <a:extLst>
              <a:ext uri="{FF2B5EF4-FFF2-40B4-BE49-F238E27FC236}">
                <a16:creationId xmlns:a16="http://schemas.microsoft.com/office/drawing/2014/main" id="{5CA21BC0-0D9E-A846-AB92-34E547472544}"/>
              </a:ext>
            </a:extLst>
          </p:cNvPr>
          <p:cNvSpPr/>
          <p:nvPr/>
        </p:nvSpPr>
        <p:spPr>
          <a:xfrm>
            <a:off x="3869774" y="2628654"/>
            <a:ext cx="145919" cy="186253"/>
          </a:xfrm>
          <a:custGeom>
            <a:avLst/>
            <a:gdLst/>
            <a:ahLst/>
            <a:cxnLst/>
            <a:rect l="l" t="t" r="r" b="b"/>
            <a:pathLst>
              <a:path w="8907" h="11369" extrusionOk="0">
                <a:moveTo>
                  <a:pt x="3740" y="1"/>
                </a:moveTo>
                <a:lnTo>
                  <a:pt x="1" y="5533"/>
                </a:lnTo>
                <a:lnTo>
                  <a:pt x="4712" y="11369"/>
                </a:lnTo>
                <a:lnTo>
                  <a:pt x="8907" y="7843"/>
                </a:lnTo>
                <a:lnTo>
                  <a:pt x="374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1780;p64">
            <a:extLst>
              <a:ext uri="{FF2B5EF4-FFF2-40B4-BE49-F238E27FC236}">
                <a16:creationId xmlns:a16="http://schemas.microsoft.com/office/drawing/2014/main" id="{A3358023-D7F3-D29F-5D0D-6E4FC3EAE03B}"/>
              </a:ext>
            </a:extLst>
          </p:cNvPr>
          <p:cNvSpPr/>
          <p:nvPr/>
        </p:nvSpPr>
        <p:spPr>
          <a:xfrm>
            <a:off x="3729370" y="2719276"/>
            <a:ext cx="305255" cy="369999"/>
          </a:xfrm>
          <a:custGeom>
            <a:avLst/>
            <a:gdLst/>
            <a:ahLst/>
            <a:cxnLst/>
            <a:rect l="l" t="t" r="r" b="b"/>
            <a:pathLst>
              <a:path w="18633" h="22585" extrusionOk="0">
                <a:moveTo>
                  <a:pt x="8572" y="1"/>
                </a:moveTo>
                <a:cubicBezTo>
                  <a:pt x="2645" y="1065"/>
                  <a:pt x="426" y="9758"/>
                  <a:pt x="0" y="22190"/>
                </a:cubicBezTo>
                <a:cubicBezTo>
                  <a:pt x="0" y="22190"/>
                  <a:pt x="1824" y="22402"/>
                  <a:pt x="3313" y="21551"/>
                </a:cubicBezTo>
                <a:cubicBezTo>
                  <a:pt x="4013" y="21156"/>
                  <a:pt x="4712" y="20792"/>
                  <a:pt x="5532" y="20670"/>
                </a:cubicBezTo>
                <a:cubicBezTo>
                  <a:pt x="7265" y="20244"/>
                  <a:pt x="10122" y="19971"/>
                  <a:pt x="12311" y="21612"/>
                </a:cubicBezTo>
                <a:cubicBezTo>
                  <a:pt x="12311" y="21612"/>
                  <a:pt x="13283" y="22585"/>
                  <a:pt x="15168" y="21764"/>
                </a:cubicBezTo>
                <a:cubicBezTo>
                  <a:pt x="15168" y="21764"/>
                  <a:pt x="18633" y="9758"/>
                  <a:pt x="14408" y="370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1781;p64">
            <a:extLst>
              <a:ext uri="{FF2B5EF4-FFF2-40B4-BE49-F238E27FC236}">
                <a16:creationId xmlns:a16="http://schemas.microsoft.com/office/drawing/2014/main" id="{93A95EAB-B679-58A0-93ED-47189DF54622}"/>
              </a:ext>
            </a:extLst>
          </p:cNvPr>
          <p:cNvSpPr/>
          <p:nvPr/>
        </p:nvSpPr>
        <p:spPr>
          <a:xfrm>
            <a:off x="3701489" y="3047558"/>
            <a:ext cx="198703" cy="255321"/>
          </a:xfrm>
          <a:custGeom>
            <a:avLst/>
            <a:gdLst/>
            <a:ahLst/>
            <a:cxnLst/>
            <a:rect l="l" t="t" r="r" b="b"/>
            <a:pathLst>
              <a:path w="12129" h="15585" extrusionOk="0">
                <a:moveTo>
                  <a:pt x="9279" y="1"/>
                </a:moveTo>
                <a:cubicBezTo>
                  <a:pt x="8415" y="1"/>
                  <a:pt x="7123" y="170"/>
                  <a:pt x="5958" y="995"/>
                </a:cubicBezTo>
                <a:cubicBezTo>
                  <a:pt x="5958" y="995"/>
                  <a:pt x="0" y="8563"/>
                  <a:pt x="4104" y="15585"/>
                </a:cubicBezTo>
                <a:lnTo>
                  <a:pt x="6353" y="14247"/>
                </a:lnTo>
                <a:cubicBezTo>
                  <a:pt x="6353" y="14247"/>
                  <a:pt x="3283" y="8411"/>
                  <a:pt x="7994" y="5098"/>
                </a:cubicBezTo>
                <a:lnTo>
                  <a:pt x="8663" y="4855"/>
                </a:lnTo>
                <a:lnTo>
                  <a:pt x="8663" y="6618"/>
                </a:lnTo>
                <a:lnTo>
                  <a:pt x="8663" y="13791"/>
                </a:lnTo>
                <a:lnTo>
                  <a:pt x="11672" y="13791"/>
                </a:lnTo>
                <a:lnTo>
                  <a:pt x="11672" y="6679"/>
                </a:lnTo>
                <a:lnTo>
                  <a:pt x="12128" y="569"/>
                </a:lnTo>
                <a:cubicBezTo>
                  <a:pt x="11429" y="235"/>
                  <a:pt x="10791" y="113"/>
                  <a:pt x="10274" y="83"/>
                </a:cubicBezTo>
                <a:cubicBezTo>
                  <a:pt x="10274" y="83"/>
                  <a:pt x="9880" y="1"/>
                  <a:pt x="92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782;p64">
            <a:extLst>
              <a:ext uri="{FF2B5EF4-FFF2-40B4-BE49-F238E27FC236}">
                <a16:creationId xmlns:a16="http://schemas.microsoft.com/office/drawing/2014/main" id="{6BA6F308-6E1A-5754-0978-A2C51FD91A54}"/>
              </a:ext>
            </a:extLst>
          </p:cNvPr>
          <p:cNvSpPr/>
          <p:nvPr/>
        </p:nvSpPr>
        <p:spPr>
          <a:xfrm>
            <a:off x="3928043" y="2435960"/>
            <a:ext cx="644864" cy="931198"/>
          </a:xfrm>
          <a:custGeom>
            <a:avLst/>
            <a:gdLst/>
            <a:ahLst/>
            <a:cxnLst/>
            <a:rect l="l" t="t" r="r" b="b"/>
            <a:pathLst>
              <a:path w="39363" h="56841" extrusionOk="0">
                <a:moveTo>
                  <a:pt x="39211" y="12463"/>
                </a:moveTo>
                <a:cubicBezTo>
                  <a:pt x="38846" y="20700"/>
                  <a:pt x="37326" y="37904"/>
                  <a:pt x="31551" y="48938"/>
                </a:cubicBezTo>
                <a:cubicBezTo>
                  <a:pt x="28663" y="54470"/>
                  <a:pt x="22888" y="56841"/>
                  <a:pt x="17569" y="56050"/>
                </a:cubicBezTo>
                <a:cubicBezTo>
                  <a:pt x="13496" y="55442"/>
                  <a:pt x="9666" y="53011"/>
                  <a:pt x="7538" y="48695"/>
                </a:cubicBezTo>
                <a:cubicBezTo>
                  <a:pt x="3648" y="40913"/>
                  <a:pt x="1246" y="28785"/>
                  <a:pt x="243" y="12767"/>
                </a:cubicBezTo>
                <a:cubicBezTo>
                  <a:pt x="0" y="9393"/>
                  <a:pt x="1794" y="6262"/>
                  <a:pt x="4712" y="4682"/>
                </a:cubicBezTo>
                <a:cubicBezTo>
                  <a:pt x="5198" y="4408"/>
                  <a:pt x="5745" y="4165"/>
                  <a:pt x="6322" y="3983"/>
                </a:cubicBezTo>
                <a:cubicBezTo>
                  <a:pt x="6930" y="3800"/>
                  <a:pt x="7508" y="3618"/>
                  <a:pt x="8207" y="3436"/>
                </a:cubicBezTo>
                <a:cubicBezTo>
                  <a:pt x="15380" y="1521"/>
                  <a:pt x="25989" y="1"/>
                  <a:pt x="34590" y="4378"/>
                </a:cubicBezTo>
                <a:cubicBezTo>
                  <a:pt x="34682" y="4408"/>
                  <a:pt x="34773" y="4469"/>
                  <a:pt x="34894" y="4530"/>
                </a:cubicBezTo>
                <a:cubicBezTo>
                  <a:pt x="37660" y="6141"/>
                  <a:pt x="39363" y="9180"/>
                  <a:pt x="39211" y="12463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1783;p64">
            <a:extLst>
              <a:ext uri="{FF2B5EF4-FFF2-40B4-BE49-F238E27FC236}">
                <a16:creationId xmlns:a16="http://schemas.microsoft.com/office/drawing/2014/main" id="{0A6CB3C5-8268-345A-C5FF-68398E9CB7CA}"/>
              </a:ext>
            </a:extLst>
          </p:cNvPr>
          <p:cNvSpPr/>
          <p:nvPr/>
        </p:nvSpPr>
        <p:spPr>
          <a:xfrm>
            <a:off x="3928043" y="2435960"/>
            <a:ext cx="570668" cy="918256"/>
          </a:xfrm>
          <a:custGeom>
            <a:avLst/>
            <a:gdLst/>
            <a:ahLst/>
            <a:cxnLst/>
            <a:rect l="l" t="t" r="r" b="b"/>
            <a:pathLst>
              <a:path w="34834" h="56051" extrusionOk="0">
                <a:moveTo>
                  <a:pt x="34834" y="4560"/>
                </a:moveTo>
                <a:cubicBezTo>
                  <a:pt x="26171" y="1"/>
                  <a:pt x="15472" y="1521"/>
                  <a:pt x="8177" y="3466"/>
                </a:cubicBezTo>
                <a:cubicBezTo>
                  <a:pt x="7508" y="3648"/>
                  <a:pt x="6870" y="3831"/>
                  <a:pt x="6262" y="3983"/>
                </a:cubicBezTo>
                <a:cubicBezTo>
                  <a:pt x="5684" y="4135"/>
                  <a:pt x="5167" y="4378"/>
                  <a:pt x="4681" y="4682"/>
                </a:cubicBezTo>
                <a:cubicBezTo>
                  <a:pt x="1794" y="6232"/>
                  <a:pt x="0" y="9332"/>
                  <a:pt x="183" y="12767"/>
                </a:cubicBezTo>
                <a:cubicBezTo>
                  <a:pt x="1216" y="28785"/>
                  <a:pt x="3617" y="40913"/>
                  <a:pt x="7478" y="48695"/>
                </a:cubicBezTo>
                <a:cubicBezTo>
                  <a:pt x="9605" y="53011"/>
                  <a:pt x="13435" y="55442"/>
                  <a:pt x="17508" y="56050"/>
                </a:cubicBezTo>
                <a:cubicBezTo>
                  <a:pt x="10608" y="42403"/>
                  <a:pt x="7326" y="31673"/>
                  <a:pt x="6140" y="23405"/>
                </a:cubicBezTo>
                <a:cubicBezTo>
                  <a:pt x="5046" y="15685"/>
                  <a:pt x="11095" y="8724"/>
                  <a:pt x="18876" y="8876"/>
                </a:cubicBezTo>
                <a:lnTo>
                  <a:pt x="19666" y="8876"/>
                </a:lnTo>
                <a:cubicBezTo>
                  <a:pt x="27022" y="8876"/>
                  <a:pt x="33131" y="7053"/>
                  <a:pt x="34834" y="4560"/>
                </a:cubicBezTo>
                <a:close/>
              </a:path>
            </a:pathLst>
          </a:custGeom>
          <a:solidFill>
            <a:srgbClr val="134F5C">
              <a:alpha val="56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1784;p64">
            <a:extLst>
              <a:ext uri="{FF2B5EF4-FFF2-40B4-BE49-F238E27FC236}">
                <a16:creationId xmlns:a16="http://schemas.microsoft.com/office/drawing/2014/main" id="{7D00B17A-9F2A-ABC1-6765-5405CAD500F4}"/>
              </a:ext>
            </a:extLst>
          </p:cNvPr>
          <p:cNvSpPr/>
          <p:nvPr/>
        </p:nvSpPr>
        <p:spPr>
          <a:xfrm>
            <a:off x="3658669" y="1605442"/>
            <a:ext cx="986456" cy="960064"/>
          </a:xfrm>
          <a:custGeom>
            <a:avLst/>
            <a:gdLst/>
            <a:ahLst/>
            <a:cxnLst/>
            <a:rect l="l" t="t" r="r" b="b"/>
            <a:pathLst>
              <a:path w="60214" h="58603" extrusionOk="0">
                <a:moveTo>
                  <a:pt x="60032" y="33982"/>
                </a:moveTo>
                <a:cubicBezTo>
                  <a:pt x="58968" y="49788"/>
                  <a:pt x="41794" y="54347"/>
                  <a:pt x="38451" y="55077"/>
                </a:cubicBezTo>
                <a:cubicBezTo>
                  <a:pt x="37964" y="55168"/>
                  <a:pt x="37508" y="55290"/>
                  <a:pt x="36992" y="55442"/>
                </a:cubicBezTo>
                <a:cubicBezTo>
                  <a:pt x="35533" y="55867"/>
                  <a:pt x="34104" y="56171"/>
                  <a:pt x="32797" y="56445"/>
                </a:cubicBezTo>
                <a:cubicBezTo>
                  <a:pt x="20943" y="58603"/>
                  <a:pt x="13678" y="54834"/>
                  <a:pt x="9332" y="50548"/>
                </a:cubicBezTo>
                <a:cubicBezTo>
                  <a:pt x="5836" y="47052"/>
                  <a:pt x="3708" y="42493"/>
                  <a:pt x="3009" y="37630"/>
                </a:cubicBezTo>
                <a:cubicBezTo>
                  <a:pt x="0" y="16961"/>
                  <a:pt x="10304" y="8480"/>
                  <a:pt x="17690" y="5137"/>
                </a:cubicBezTo>
                <a:cubicBezTo>
                  <a:pt x="21551" y="3404"/>
                  <a:pt x="24590" y="3009"/>
                  <a:pt x="24590" y="3009"/>
                </a:cubicBezTo>
                <a:cubicBezTo>
                  <a:pt x="37083" y="0"/>
                  <a:pt x="45898" y="3100"/>
                  <a:pt x="51946" y="10912"/>
                </a:cubicBezTo>
                <a:cubicBezTo>
                  <a:pt x="55047" y="14894"/>
                  <a:pt x="57418" y="20152"/>
                  <a:pt x="59150" y="26414"/>
                </a:cubicBezTo>
                <a:cubicBezTo>
                  <a:pt x="59880" y="28876"/>
                  <a:pt x="60214" y="31429"/>
                  <a:pt x="60032" y="3398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1785;p64">
            <a:extLst>
              <a:ext uri="{FF2B5EF4-FFF2-40B4-BE49-F238E27FC236}">
                <a16:creationId xmlns:a16="http://schemas.microsoft.com/office/drawing/2014/main" id="{9EB39620-83D4-A354-D230-ED99AA74A8BE}"/>
              </a:ext>
            </a:extLst>
          </p:cNvPr>
          <p:cNvSpPr/>
          <p:nvPr/>
        </p:nvSpPr>
        <p:spPr>
          <a:xfrm>
            <a:off x="3658669" y="1689576"/>
            <a:ext cx="537313" cy="875923"/>
          </a:xfrm>
          <a:custGeom>
            <a:avLst/>
            <a:gdLst/>
            <a:ahLst/>
            <a:cxnLst/>
            <a:rect l="l" t="t" r="r" b="b"/>
            <a:pathLst>
              <a:path w="32798" h="53467" extrusionOk="0">
                <a:moveTo>
                  <a:pt x="32797" y="51309"/>
                </a:moveTo>
                <a:cubicBezTo>
                  <a:pt x="20943" y="53467"/>
                  <a:pt x="13678" y="49698"/>
                  <a:pt x="9332" y="45412"/>
                </a:cubicBezTo>
                <a:cubicBezTo>
                  <a:pt x="5836" y="41916"/>
                  <a:pt x="3708" y="37357"/>
                  <a:pt x="3009" y="32494"/>
                </a:cubicBezTo>
                <a:cubicBezTo>
                  <a:pt x="0" y="11825"/>
                  <a:pt x="10304" y="3344"/>
                  <a:pt x="17690" y="1"/>
                </a:cubicBezTo>
                <a:cubicBezTo>
                  <a:pt x="10699" y="12949"/>
                  <a:pt x="122" y="41157"/>
                  <a:pt x="32797" y="51309"/>
                </a:cubicBezTo>
                <a:close/>
              </a:path>
            </a:pathLst>
          </a:custGeom>
          <a:solidFill>
            <a:srgbClr val="134F5C">
              <a:alpha val="56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1786;p64">
            <a:extLst>
              <a:ext uri="{FF2B5EF4-FFF2-40B4-BE49-F238E27FC236}">
                <a16:creationId xmlns:a16="http://schemas.microsoft.com/office/drawing/2014/main" id="{E2680D3F-A946-D294-7D61-706370793615}"/>
              </a:ext>
            </a:extLst>
          </p:cNvPr>
          <p:cNvSpPr/>
          <p:nvPr/>
        </p:nvSpPr>
        <p:spPr>
          <a:xfrm>
            <a:off x="3907124" y="1764455"/>
            <a:ext cx="723058" cy="512068"/>
          </a:xfrm>
          <a:custGeom>
            <a:avLst/>
            <a:gdLst/>
            <a:ahLst/>
            <a:cxnLst/>
            <a:rect l="l" t="t" r="r" b="b"/>
            <a:pathLst>
              <a:path w="44136" h="31257" extrusionOk="0">
                <a:moveTo>
                  <a:pt x="27905" y="1"/>
                </a:moveTo>
                <a:cubicBezTo>
                  <a:pt x="24936" y="1"/>
                  <a:pt x="21964" y="419"/>
                  <a:pt x="19089" y="1296"/>
                </a:cubicBezTo>
                <a:cubicBezTo>
                  <a:pt x="10700" y="3789"/>
                  <a:pt x="5198" y="9290"/>
                  <a:pt x="1551" y="16676"/>
                </a:cubicBezTo>
                <a:cubicBezTo>
                  <a:pt x="335" y="19108"/>
                  <a:pt x="1" y="21874"/>
                  <a:pt x="639" y="24549"/>
                </a:cubicBezTo>
                <a:cubicBezTo>
                  <a:pt x="1437" y="27790"/>
                  <a:pt x="3830" y="31257"/>
                  <a:pt x="10420" y="31257"/>
                </a:cubicBezTo>
                <a:cubicBezTo>
                  <a:pt x="11863" y="31257"/>
                  <a:pt x="13508" y="31091"/>
                  <a:pt x="15381" y="30719"/>
                </a:cubicBezTo>
                <a:cubicBezTo>
                  <a:pt x="15381" y="30719"/>
                  <a:pt x="31764" y="28136"/>
                  <a:pt x="39819" y="23941"/>
                </a:cubicBezTo>
                <a:cubicBezTo>
                  <a:pt x="42494" y="22512"/>
                  <a:pt x="44135" y="19716"/>
                  <a:pt x="44014" y="16707"/>
                </a:cubicBezTo>
                <a:cubicBezTo>
                  <a:pt x="42281" y="10445"/>
                  <a:pt x="39910" y="5187"/>
                  <a:pt x="36779" y="1235"/>
                </a:cubicBezTo>
                <a:cubicBezTo>
                  <a:pt x="33894" y="426"/>
                  <a:pt x="30901" y="1"/>
                  <a:pt x="279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1787;p64">
            <a:extLst>
              <a:ext uri="{FF2B5EF4-FFF2-40B4-BE49-F238E27FC236}">
                <a16:creationId xmlns:a16="http://schemas.microsoft.com/office/drawing/2014/main" id="{E5A754A8-D5E5-8868-4A16-43A325A33044}"/>
              </a:ext>
            </a:extLst>
          </p:cNvPr>
          <p:cNvSpPr/>
          <p:nvPr/>
        </p:nvSpPr>
        <p:spPr>
          <a:xfrm>
            <a:off x="4166538" y="2060532"/>
            <a:ext cx="129979" cy="66251"/>
          </a:xfrm>
          <a:custGeom>
            <a:avLst/>
            <a:gdLst/>
            <a:ahLst/>
            <a:cxnLst/>
            <a:rect l="l" t="t" r="r" b="b"/>
            <a:pathLst>
              <a:path w="7934" h="4044" extrusionOk="0">
                <a:moveTo>
                  <a:pt x="7721" y="2280"/>
                </a:moveTo>
                <a:cubicBezTo>
                  <a:pt x="7721" y="2280"/>
                  <a:pt x="5472" y="1"/>
                  <a:pt x="1581" y="1490"/>
                </a:cubicBezTo>
                <a:cubicBezTo>
                  <a:pt x="1125" y="1672"/>
                  <a:pt x="639" y="1976"/>
                  <a:pt x="335" y="2402"/>
                </a:cubicBezTo>
                <a:cubicBezTo>
                  <a:pt x="31" y="2767"/>
                  <a:pt x="1" y="3435"/>
                  <a:pt x="396" y="3739"/>
                </a:cubicBezTo>
                <a:cubicBezTo>
                  <a:pt x="852" y="4043"/>
                  <a:pt x="1399" y="3830"/>
                  <a:pt x="1824" y="3618"/>
                </a:cubicBezTo>
                <a:cubicBezTo>
                  <a:pt x="2372" y="3314"/>
                  <a:pt x="2919" y="3010"/>
                  <a:pt x="3527" y="2827"/>
                </a:cubicBezTo>
                <a:cubicBezTo>
                  <a:pt x="4864" y="2402"/>
                  <a:pt x="6262" y="2311"/>
                  <a:pt x="7630" y="2615"/>
                </a:cubicBezTo>
                <a:cubicBezTo>
                  <a:pt x="7812" y="2675"/>
                  <a:pt x="7934" y="2311"/>
                  <a:pt x="7721" y="228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1788;p64">
            <a:extLst>
              <a:ext uri="{FF2B5EF4-FFF2-40B4-BE49-F238E27FC236}">
                <a16:creationId xmlns:a16="http://schemas.microsoft.com/office/drawing/2014/main" id="{F85EBAC0-8AC0-CDD3-BCAC-8CBE758EA298}"/>
              </a:ext>
            </a:extLst>
          </p:cNvPr>
          <p:cNvSpPr/>
          <p:nvPr/>
        </p:nvSpPr>
        <p:spPr>
          <a:xfrm>
            <a:off x="4526042" y="1969910"/>
            <a:ext cx="59272" cy="66251"/>
          </a:xfrm>
          <a:custGeom>
            <a:avLst/>
            <a:gdLst/>
            <a:ahLst/>
            <a:cxnLst/>
            <a:rect l="l" t="t" r="r" b="b"/>
            <a:pathLst>
              <a:path w="3618" h="4044" extrusionOk="0">
                <a:moveTo>
                  <a:pt x="2493" y="153"/>
                </a:moveTo>
                <a:cubicBezTo>
                  <a:pt x="1733" y="1"/>
                  <a:pt x="1003" y="365"/>
                  <a:pt x="578" y="973"/>
                </a:cubicBezTo>
                <a:cubicBezTo>
                  <a:pt x="0" y="1764"/>
                  <a:pt x="244" y="4043"/>
                  <a:pt x="244" y="4043"/>
                </a:cubicBezTo>
                <a:cubicBezTo>
                  <a:pt x="244" y="4013"/>
                  <a:pt x="274" y="3982"/>
                  <a:pt x="274" y="3922"/>
                </a:cubicBezTo>
                <a:cubicBezTo>
                  <a:pt x="304" y="3891"/>
                  <a:pt x="335" y="3861"/>
                  <a:pt x="335" y="3770"/>
                </a:cubicBezTo>
                <a:lnTo>
                  <a:pt x="335" y="3739"/>
                </a:lnTo>
                <a:cubicBezTo>
                  <a:pt x="517" y="3526"/>
                  <a:pt x="700" y="3283"/>
                  <a:pt x="912" y="3101"/>
                </a:cubicBezTo>
                <a:cubicBezTo>
                  <a:pt x="1216" y="2888"/>
                  <a:pt x="1551" y="2767"/>
                  <a:pt x="1946" y="2675"/>
                </a:cubicBezTo>
                <a:cubicBezTo>
                  <a:pt x="2584" y="2523"/>
                  <a:pt x="3344" y="2371"/>
                  <a:pt x="3496" y="1612"/>
                </a:cubicBezTo>
                <a:cubicBezTo>
                  <a:pt x="3618" y="973"/>
                  <a:pt x="3131" y="274"/>
                  <a:pt x="2493" y="1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1789;p64">
            <a:extLst>
              <a:ext uri="{FF2B5EF4-FFF2-40B4-BE49-F238E27FC236}">
                <a16:creationId xmlns:a16="http://schemas.microsoft.com/office/drawing/2014/main" id="{D1A63894-7D73-3A12-A50D-94CE62E9281B}"/>
              </a:ext>
            </a:extLst>
          </p:cNvPr>
          <p:cNvSpPr/>
          <p:nvPr/>
        </p:nvSpPr>
        <p:spPr>
          <a:xfrm>
            <a:off x="4122227" y="2699372"/>
            <a:ext cx="257959" cy="231567"/>
          </a:xfrm>
          <a:custGeom>
            <a:avLst/>
            <a:gdLst/>
            <a:ahLst/>
            <a:cxnLst/>
            <a:rect l="l" t="t" r="r" b="b"/>
            <a:pathLst>
              <a:path w="15746" h="14135" extrusionOk="0">
                <a:moveTo>
                  <a:pt x="7873" y="0"/>
                </a:moveTo>
                <a:cubicBezTo>
                  <a:pt x="3526" y="0"/>
                  <a:pt x="1" y="3161"/>
                  <a:pt x="1" y="7052"/>
                </a:cubicBezTo>
                <a:cubicBezTo>
                  <a:pt x="1" y="10943"/>
                  <a:pt x="3526" y="14134"/>
                  <a:pt x="7873" y="14134"/>
                </a:cubicBezTo>
                <a:cubicBezTo>
                  <a:pt x="12220" y="14134"/>
                  <a:pt x="15745" y="10943"/>
                  <a:pt x="15745" y="7052"/>
                </a:cubicBezTo>
                <a:cubicBezTo>
                  <a:pt x="15745" y="3161"/>
                  <a:pt x="12220" y="0"/>
                  <a:pt x="787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1790;p64">
            <a:extLst>
              <a:ext uri="{FF2B5EF4-FFF2-40B4-BE49-F238E27FC236}">
                <a16:creationId xmlns:a16="http://schemas.microsoft.com/office/drawing/2014/main" id="{302B2A5E-A3E7-C2D7-EE09-EE0EA6462409}"/>
              </a:ext>
            </a:extLst>
          </p:cNvPr>
          <p:cNvSpPr/>
          <p:nvPr/>
        </p:nvSpPr>
        <p:spPr>
          <a:xfrm>
            <a:off x="4154596" y="2728253"/>
            <a:ext cx="193215" cy="173294"/>
          </a:xfrm>
          <a:custGeom>
            <a:avLst/>
            <a:gdLst/>
            <a:ahLst/>
            <a:cxnLst/>
            <a:rect l="l" t="t" r="r" b="b"/>
            <a:pathLst>
              <a:path w="11794" h="10578" extrusionOk="0">
                <a:moveTo>
                  <a:pt x="11794" y="5289"/>
                </a:moveTo>
                <a:cubicBezTo>
                  <a:pt x="11794" y="8207"/>
                  <a:pt x="9149" y="10578"/>
                  <a:pt x="5897" y="10578"/>
                </a:cubicBezTo>
                <a:cubicBezTo>
                  <a:pt x="2645" y="10578"/>
                  <a:pt x="0" y="8207"/>
                  <a:pt x="0" y="5289"/>
                </a:cubicBezTo>
                <a:cubicBezTo>
                  <a:pt x="0" y="2371"/>
                  <a:pt x="2645" y="0"/>
                  <a:pt x="5897" y="0"/>
                </a:cubicBezTo>
                <a:cubicBezTo>
                  <a:pt x="9149" y="0"/>
                  <a:pt x="11794" y="2371"/>
                  <a:pt x="11794" y="528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1791;p64">
            <a:extLst>
              <a:ext uri="{FF2B5EF4-FFF2-40B4-BE49-F238E27FC236}">
                <a16:creationId xmlns:a16="http://schemas.microsoft.com/office/drawing/2014/main" id="{09433248-6D9E-3832-6C06-DF013020309C}"/>
              </a:ext>
            </a:extLst>
          </p:cNvPr>
          <p:cNvSpPr/>
          <p:nvPr/>
        </p:nvSpPr>
        <p:spPr>
          <a:xfrm>
            <a:off x="4851686" y="2037254"/>
            <a:ext cx="372489" cy="423651"/>
          </a:xfrm>
          <a:custGeom>
            <a:avLst/>
            <a:gdLst/>
            <a:ahLst/>
            <a:cxnLst/>
            <a:rect l="l" t="t" r="r" b="b"/>
            <a:pathLst>
              <a:path w="22737" h="25860" extrusionOk="0">
                <a:moveTo>
                  <a:pt x="11095" y="631"/>
                </a:moveTo>
                <a:lnTo>
                  <a:pt x="11095" y="8899"/>
                </a:lnTo>
                <a:lnTo>
                  <a:pt x="1034" y="4309"/>
                </a:lnTo>
                <a:lnTo>
                  <a:pt x="11095" y="631"/>
                </a:lnTo>
                <a:close/>
                <a:moveTo>
                  <a:pt x="11611" y="631"/>
                </a:moveTo>
                <a:lnTo>
                  <a:pt x="21703" y="4279"/>
                </a:lnTo>
                <a:lnTo>
                  <a:pt x="11611" y="8899"/>
                </a:lnTo>
                <a:lnTo>
                  <a:pt x="11611" y="631"/>
                </a:lnTo>
                <a:close/>
                <a:moveTo>
                  <a:pt x="22128" y="4704"/>
                </a:moveTo>
                <a:lnTo>
                  <a:pt x="22159" y="19385"/>
                </a:lnTo>
                <a:lnTo>
                  <a:pt x="11642" y="14431"/>
                </a:lnTo>
                <a:lnTo>
                  <a:pt x="11642" y="9507"/>
                </a:lnTo>
                <a:lnTo>
                  <a:pt x="11611" y="9507"/>
                </a:lnTo>
                <a:lnTo>
                  <a:pt x="22128" y="4704"/>
                </a:lnTo>
                <a:close/>
                <a:moveTo>
                  <a:pt x="578" y="4704"/>
                </a:moveTo>
                <a:lnTo>
                  <a:pt x="11064" y="9507"/>
                </a:lnTo>
                <a:lnTo>
                  <a:pt x="11064" y="14431"/>
                </a:lnTo>
                <a:lnTo>
                  <a:pt x="578" y="19416"/>
                </a:lnTo>
                <a:lnTo>
                  <a:pt x="578" y="4704"/>
                </a:lnTo>
                <a:close/>
                <a:moveTo>
                  <a:pt x="11095" y="15039"/>
                </a:moveTo>
                <a:lnTo>
                  <a:pt x="11095" y="25161"/>
                </a:lnTo>
                <a:lnTo>
                  <a:pt x="912" y="19902"/>
                </a:lnTo>
                <a:lnTo>
                  <a:pt x="11095" y="15039"/>
                </a:lnTo>
                <a:close/>
                <a:moveTo>
                  <a:pt x="11611" y="15039"/>
                </a:moveTo>
                <a:lnTo>
                  <a:pt x="21824" y="19841"/>
                </a:lnTo>
                <a:lnTo>
                  <a:pt x="11611" y="25161"/>
                </a:lnTo>
                <a:lnTo>
                  <a:pt x="11611" y="15039"/>
                </a:lnTo>
                <a:close/>
                <a:moveTo>
                  <a:pt x="11338" y="1"/>
                </a:moveTo>
                <a:cubicBezTo>
                  <a:pt x="11307" y="1"/>
                  <a:pt x="11277" y="8"/>
                  <a:pt x="11247" y="23"/>
                </a:cubicBezTo>
                <a:lnTo>
                  <a:pt x="183" y="4036"/>
                </a:lnTo>
                <a:lnTo>
                  <a:pt x="122" y="4036"/>
                </a:lnTo>
                <a:lnTo>
                  <a:pt x="61" y="4096"/>
                </a:lnTo>
                <a:lnTo>
                  <a:pt x="31" y="4127"/>
                </a:lnTo>
                <a:cubicBezTo>
                  <a:pt x="0" y="4157"/>
                  <a:pt x="0" y="4188"/>
                  <a:pt x="0" y="4248"/>
                </a:cubicBezTo>
                <a:lnTo>
                  <a:pt x="0" y="4279"/>
                </a:lnTo>
                <a:lnTo>
                  <a:pt x="0" y="19841"/>
                </a:lnTo>
                <a:cubicBezTo>
                  <a:pt x="0" y="19902"/>
                  <a:pt x="0" y="19933"/>
                  <a:pt x="31" y="19963"/>
                </a:cubicBezTo>
                <a:cubicBezTo>
                  <a:pt x="31" y="19993"/>
                  <a:pt x="61" y="19993"/>
                  <a:pt x="61" y="20054"/>
                </a:cubicBezTo>
                <a:lnTo>
                  <a:pt x="122" y="20084"/>
                </a:lnTo>
                <a:lnTo>
                  <a:pt x="11155" y="25829"/>
                </a:lnTo>
                <a:cubicBezTo>
                  <a:pt x="11216" y="25860"/>
                  <a:pt x="11247" y="25860"/>
                  <a:pt x="11277" y="25860"/>
                </a:cubicBezTo>
                <a:cubicBezTo>
                  <a:pt x="11307" y="25860"/>
                  <a:pt x="11368" y="25860"/>
                  <a:pt x="11399" y="25829"/>
                </a:cubicBezTo>
                <a:lnTo>
                  <a:pt x="22493" y="19993"/>
                </a:lnTo>
                <a:lnTo>
                  <a:pt x="22523" y="19963"/>
                </a:lnTo>
                <a:cubicBezTo>
                  <a:pt x="22554" y="19933"/>
                  <a:pt x="22554" y="19933"/>
                  <a:pt x="22554" y="19902"/>
                </a:cubicBezTo>
                <a:cubicBezTo>
                  <a:pt x="22736" y="19902"/>
                  <a:pt x="22736" y="19841"/>
                  <a:pt x="22736" y="19811"/>
                </a:cubicBezTo>
                <a:lnTo>
                  <a:pt x="22675" y="4279"/>
                </a:lnTo>
                <a:lnTo>
                  <a:pt x="22675" y="4248"/>
                </a:lnTo>
                <a:cubicBezTo>
                  <a:pt x="22675" y="4188"/>
                  <a:pt x="22675" y="4157"/>
                  <a:pt x="22645" y="4127"/>
                </a:cubicBezTo>
                <a:lnTo>
                  <a:pt x="22615" y="4096"/>
                </a:lnTo>
                <a:lnTo>
                  <a:pt x="22554" y="4036"/>
                </a:lnTo>
                <a:lnTo>
                  <a:pt x="22493" y="4036"/>
                </a:lnTo>
                <a:lnTo>
                  <a:pt x="11429" y="23"/>
                </a:lnTo>
                <a:cubicBezTo>
                  <a:pt x="11399" y="8"/>
                  <a:pt x="11368" y="1"/>
                  <a:pt x="113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45"/>
          <p:cNvSpPr txBox="1">
            <a:spLocks noGrp="1"/>
          </p:cNvSpPr>
          <p:nvPr>
            <p:ph type="title"/>
          </p:nvPr>
        </p:nvSpPr>
        <p:spPr>
          <a:xfrm>
            <a:off x="4906674" y="1132975"/>
            <a:ext cx="3600903" cy="6299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</a:t>
            </a:r>
            <a:r>
              <a:rPr lang="en-US" dirty="0" err="1"/>
              <a:t>LoanBuddy</a:t>
            </a:r>
            <a:r>
              <a:rPr lang="en-US" dirty="0"/>
              <a:t>?</a:t>
            </a:r>
          </a:p>
        </p:txBody>
      </p:sp>
      <p:sp>
        <p:nvSpPr>
          <p:cNvPr id="809" name="Google Shape;809;p45"/>
          <p:cNvSpPr txBox="1">
            <a:spLocks noGrp="1"/>
          </p:cNvSpPr>
          <p:nvPr>
            <p:ph type="subTitle" idx="1"/>
          </p:nvPr>
        </p:nvSpPr>
        <p:spPr>
          <a:xfrm>
            <a:off x="4906674" y="1762963"/>
            <a:ext cx="3524100" cy="23408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dirty="0"/>
              <a:t>Reduces manual paperwork in loan processing.</a:t>
            </a:r>
          </a:p>
          <a:p>
            <a:pPr marL="285750" indent="-285750"/>
            <a:r>
              <a:rPr lang="en-US" dirty="0"/>
              <a:t>Automates and speeds up decision making.</a:t>
            </a:r>
          </a:p>
          <a:p>
            <a:pPr marL="285750" indent="-285750"/>
            <a:r>
              <a:rPr lang="en-US" dirty="0"/>
              <a:t>Improves accuracy and consistency.</a:t>
            </a:r>
          </a:p>
          <a:p>
            <a:pPr marL="285750" indent="-285750"/>
            <a:r>
              <a:rPr lang="en-US" dirty="0"/>
              <a:t>Demonstrates practical use of AI classification.</a:t>
            </a:r>
          </a:p>
        </p:txBody>
      </p:sp>
      <p:pic>
        <p:nvPicPr>
          <p:cNvPr id="9" name="Picture Placeholder 8" descr="A pen and a model house on a loan application&#10;&#10;Description automatically generated">
            <a:extLst>
              <a:ext uri="{FF2B5EF4-FFF2-40B4-BE49-F238E27FC236}">
                <a16:creationId xmlns:a16="http://schemas.microsoft.com/office/drawing/2014/main" id="{7F22386A-40AF-7597-11CE-B257118747A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6667" r="16667"/>
          <a:stretch>
            <a:fillRect/>
          </a:stretch>
        </p:blipFill>
        <p:spPr>
          <a:xfrm>
            <a:off x="202954" y="381185"/>
            <a:ext cx="4379700" cy="43797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2"/>
          <p:cNvSpPr/>
          <p:nvPr/>
        </p:nvSpPr>
        <p:spPr>
          <a:xfrm>
            <a:off x="974733" y="35668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" name="Google Shape;661;p42"/>
          <p:cNvSpPr/>
          <p:nvPr/>
        </p:nvSpPr>
        <p:spPr>
          <a:xfrm>
            <a:off x="4510905" y="2146867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2" name="Google Shape;662;p42"/>
          <p:cNvSpPr/>
          <p:nvPr/>
        </p:nvSpPr>
        <p:spPr>
          <a:xfrm>
            <a:off x="974733" y="2146867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3" name="Google Shape;663;p42"/>
          <p:cNvSpPr/>
          <p:nvPr/>
        </p:nvSpPr>
        <p:spPr>
          <a:xfrm>
            <a:off x="4510905" y="35194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" name="Google Shape;66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665" name="Google Shape;665;p42"/>
          <p:cNvSpPr txBox="1">
            <a:spLocks noGrp="1"/>
          </p:cNvSpPr>
          <p:nvPr>
            <p:ph type="subTitle" idx="1"/>
          </p:nvPr>
        </p:nvSpPr>
        <p:spPr>
          <a:xfrm>
            <a:off x="1970110" y="2453236"/>
            <a:ext cx="225111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Understanding the dataset and the attributes.</a:t>
            </a:r>
            <a:endParaRPr dirty="0"/>
          </a:p>
        </p:txBody>
      </p:sp>
      <p:sp>
        <p:nvSpPr>
          <p:cNvPr id="666" name="Google Shape;666;p42"/>
          <p:cNvSpPr txBox="1">
            <a:spLocks noGrp="1"/>
          </p:cNvSpPr>
          <p:nvPr>
            <p:ph type="subTitle" idx="2"/>
          </p:nvPr>
        </p:nvSpPr>
        <p:spPr>
          <a:xfrm>
            <a:off x="5468857" y="2464765"/>
            <a:ext cx="2012557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Cleaning, scaling and balancing the dataset.</a:t>
            </a:r>
            <a:endParaRPr dirty="0"/>
          </a:p>
        </p:txBody>
      </p:sp>
      <p:sp>
        <p:nvSpPr>
          <p:cNvPr id="667" name="Google Shape;667;p42"/>
          <p:cNvSpPr txBox="1">
            <a:spLocks noGrp="1"/>
          </p:cNvSpPr>
          <p:nvPr>
            <p:ph type="subTitle" idx="3"/>
          </p:nvPr>
        </p:nvSpPr>
        <p:spPr>
          <a:xfrm>
            <a:off x="1977418" y="3813746"/>
            <a:ext cx="2299021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Training and Testing of the model using the dataset.</a:t>
            </a:r>
            <a:endParaRPr dirty="0"/>
          </a:p>
        </p:txBody>
      </p:sp>
      <p:sp>
        <p:nvSpPr>
          <p:cNvPr id="668" name="Google Shape;668;p42"/>
          <p:cNvSpPr txBox="1">
            <a:spLocks noGrp="1"/>
          </p:cNvSpPr>
          <p:nvPr>
            <p:ph type="subTitle" idx="4"/>
          </p:nvPr>
        </p:nvSpPr>
        <p:spPr>
          <a:xfrm>
            <a:off x="5468856" y="3835975"/>
            <a:ext cx="2504711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Analysing the models through the evaluation metrics.</a:t>
            </a:r>
            <a:endParaRPr dirty="0"/>
          </a:p>
        </p:txBody>
      </p:sp>
      <p:sp>
        <p:nvSpPr>
          <p:cNvPr id="669" name="Google Shape;669;p42"/>
          <p:cNvSpPr txBox="1">
            <a:spLocks noGrp="1"/>
          </p:cNvSpPr>
          <p:nvPr>
            <p:ph type="subTitle" idx="5"/>
          </p:nvPr>
        </p:nvSpPr>
        <p:spPr>
          <a:xfrm>
            <a:off x="1977418" y="1889901"/>
            <a:ext cx="1978200" cy="7231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Understanding</a:t>
            </a:r>
            <a:endParaRPr sz="1800" dirty="0"/>
          </a:p>
        </p:txBody>
      </p:sp>
      <p:sp>
        <p:nvSpPr>
          <p:cNvPr id="670" name="Google Shape;670;p42"/>
          <p:cNvSpPr txBox="1">
            <a:spLocks noGrp="1"/>
          </p:cNvSpPr>
          <p:nvPr>
            <p:ph type="subTitle" idx="6"/>
          </p:nvPr>
        </p:nvSpPr>
        <p:spPr>
          <a:xfrm>
            <a:off x="5468857" y="1889367"/>
            <a:ext cx="1978200" cy="7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Preparation</a:t>
            </a:r>
            <a:endParaRPr sz="1800"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subTitle" idx="7"/>
          </p:nvPr>
        </p:nvSpPr>
        <p:spPr>
          <a:xfrm>
            <a:off x="1977418" y="3519413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Train &amp; Test</a:t>
            </a:r>
            <a:endParaRPr sz="1800" dirty="0"/>
          </a:p>
        </p:txBody>
      </p:sp>
      <p:sp>
        <p:nvSpPr>
          <p:cNvPr id="672" name="Google Shape;672;p42"/>
          <p:cNvSpPr txBox="1">
            <a:spLocks noGrp="1"/>
          </p:cNvSpPr>
          <p:nvPr>
            <p:ph type="subTitle" idx="8"/>
          </p:nvPr>
        </p:nvSpPr>
        <p:spPr>
          <a:xfrm>
            <a:off x="5468857" y="352021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2" name="Google Shape;526;p38">
            <a:extLst>
              <a:ext uri="{FF2B5EF4-FFF2-40B4-BE49-F238E27FC236}">
                <a16:creationId xmlns:a16="http://schemas.microsoft.com/office/drawing/2014/main" id="{40871EBF-2D85-6043-28CC-6D23E7D63850}"/>
              </a:ext>
            </a:extLst>
          </p:cNvPr>
          <p:cNvSpPr txBox="1">
            <a:spLocks/>
          </p:cNvSpPr>
          <p:nvPr/>
        </p:nvSpPr>
        <p:spPr>
          <a:xfrm>
            <a:off x="760661" y="974825"/>
            <a:ext cx="7646031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dirty="0"/>
              <a:t>The model uses supervised learning where it learns from labelled data whose predictions are known. It uses binary classification to classify the results into two possible outcomes, “approved” and “denied”.</a:t>
            </a:r>
          </a:p>
        </p:txBody>
      </p:sp>
      <p:grpSp>
        <p:nvGrpSpPr>
          <p:cNvPr id="4" name="Google Shape;6844;p78">
            <a:extLst>
              <a:ext uri="{FF2B5EF4-FFF2-40B4-BE49-F238E27FC236}">
                <a16:creationId xmlns:a16="http://schemas.microsoft.com/office/drawing/2014/main" id="{4D95A14A-F0F1-7D85-5563-91202C6C1ED1}"/>
              </a:ext>
            </a:extLst>
          </p:cNvPr>
          <p:cNvGrpSpPr/>
          <p:nvPr/>
        </p:nvGrpSpPr>
        <p:grpSpPr>
          <a:xfrm>
            <a:off x="1129110" y="2248861"/>
            <a:ext cx="490997" cy="489026"/>
            <a:chOff x="946175" y="3253275"/>
            <a:chExt cx="298550" cy="296150"/>
          </a:xfrm>
          <a:solidFill>
            <a:schemeClr val="accent2"/>
          </a:solidFill>
        </p:grpSpPr>
        <p:sp>
          <p:nvSpPr>
            <p:cNvPr id="5" name="Google Shape;6845;p78">
              <a:extLst>
                <a:ext uri="{FF2B5EF4-FFF2-40B4-BE49-F238E27FC236}">
                  <a16:creationId xmlns:a16="http://schemas.microsoft.com/office/drawing/2014/main" id="{830CB111-2932-790B-C3AA-14505B90A97B}"/>
                </a:ext>
              </a:extLst>
            </p:cNvPr>
            <p:cNvSpPr/>
            <p:nvPr/>
          </p:nvSpPr>
          <p:spPr>
            <a:xfrm>
              <a:off x="946175" y="3253275"/>
              <a:ext cx="209550" cy="261500"/>
            </a:xfrm>
            <a:custGeom>
              <a:avLst/>
              <a:gdLst/>
              <a:ahLst/>
              <a:cxnLst/>
              <a:rect l="l" t="t" r="r" b="b"/>
              <a:pathLst>
                <a:path w="8382" h="10460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846;p78">
              <a:extLst>
                <a:ext uri="{FF2B5EF4-FFF2-40B4-BE49-F238E27FC236}">
                  <a16:creationId xmlns:a16="http://schemas.microsoft.com/office/drawing/2014/main" id="{814DD8CA-17FB-2D76-6954-53606F90E887}"/>
                </a:ext>
              </a:extLst>
            </p:cNvPr>
            <p:cNvSpPr/>
            <p:nvPr/>
          </p:nvSpPr>
          <p:spPr>
            <a:xfrm>
              <a:off x="986350" y="3293425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847;p78">
              <a:extLst>
                <a:ext uri="{FF2B5EF4-FFF2-40B4-BE49-F238E27FC236}">
                  <a16:creationId xmlns:a16="http://schemas.microsoft.com/office/drawing/2014/main" id="{3CA560ED-AC6A-5AF5-439C-3B20BBB53012}"/>
                </a:ext>
              </a:extLst>
            </p:cNvPr>
            <p:cNvSpPr/>
            <p:nvPr/>
          </p:nvSpPr>
          <p:spPr>
            <a:xfrm>
              <a:off x="1051725" y="3359600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848;p78">
              <a:extLst>
                <a:ext uri="{FF2B5EF4-FFF2-40B4-BE49-F238E27FC236}">
                  <a16:creationId xmlns:a16="http://schemas.microsoft.com/office/drawing/2014/main" id="{16A3DA12-53A3-FBA6-4DEF-C5191B7B3F7B}"/>
                </a:ext>
              </a:extLst>
            </p:cNvPr>
            <p:cNvSpPr/>
            <p:nvPr/>
          </p:nvSpPr>
          <p:spPr>
            <a:xfrm>
              <a:off x="980050" y="3289500"/>
              <a:ext cx="192200" cy="242600"/>
            </a:xfrm>
            <a:custGeom>
              <a:avLst/>
              <a:gdLst/>
              <a:ahLst/>
              <a:cxnLst/>
              <a:rect l="l" t="t" r="r" b="b"/>
              <a:pathLst>
                <a:path w="7688" h="9704" extrusionOk="0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849;p78">
              <a:extLst>
                <a:ext uri="{FF2B5EF4-FFF2-40B4-BE49-F238E27FC236}">
                  <a16:creationId xmlns:a16="http://schemas.microsoft.com/office/drawing/2014/main" id="{DD6A0F51-8E1C-2749-EADD-9691B8094716}"/>
                </a:ext>
              </a:extLst>
            </p:cNvPr>
            <p:cNvSpPr/>
            <p:nvPr/>
          </p:nvSpPr>
          <p:spPr>
            <a:xfrm>
              <a:off x="1154125" y="3460400"/>
              <a:ext cx="90600" cy="89025"/>
            </a:xfrm>
            <a:custGeom>
              <a:avLst/>
              <a:gdLst/>
              <a:ahLst/>
              <a:cxnLst/>
              <a:rect l="l" t="t" r="r" b="b"/>
              <a:pathLst>
                <a:path w="3624" h="3561" extrusionOk="0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6769;p78">
            <a:extLst>
              <a:ext uri="{FF2B5EF4-FFF2-40B4-BE49-F238E27FC236}">
                <a16:creationId xmlns:a16="http://schemas.microsoft.com/office/drawing/2014/main" id="{EC1FF225-4163-97B2-DAC5-D89618828BDC}"/>
              </a:ext>
            </a:extLst>
          </p:cNvPr>
          <p:cNvGrpSpPr/>
          <p:nvPr/>
        </p:nvGrpSpPr>
        <p:grpSpPr>
          <a:xfrm>
            <a:off x="4640225" y="3609455"/>
            <a:ext cx="457759" cy="542387"/>
            <a:chOff x="-61783350" y="3743950"/>
            <a:chExt cx="316650" cy="317450"/>
          </a:xfrm>
          <a:solidFill>
            <a:schemeClr val="accent2"/>
          </a:solidFill>
        </p:grpSpPr>
        <p:sp>
          <p:nvSpPr>
            <p:cNvPr id="11" name="Google Shape;6770;p78">
              <a:extLst>
                <a:ext uri="{FF2B5EF4-FFF2-40B4-BE49-F238E27FC236}">
                  <a16:creationId xmlns:a16="http://schemas.microsoft.com/office/drawing/2014/main" id="{94A463BC-F2F0-9074-D34F-AC3875663C17}"/>
                </a:ext>
              </a:extLst>
            </p:cNvPr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771;p78">
              <a:extLst>
                <a:ext uri="{FF2B5EF4-FFF2-40B4-BE49-F238E27FC236}">
                  <a16:creationId xmlns:a16="http://schemas.microsoft.com/office/drawing/2014/main" id="{C00EF6E4-D681-25F1-FEAB-031EE56C6894}"/>
                </a:ext>
              </a:extLst>
            </p:cNvPr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6022;p76">
            <a:extLst>
              <a:ext uri="{FF2B5EF4-FFF2-40B4-BE49-F238E27FC236}">
                <a16:creationId xmlns:a16="http://schemas.microsoft.com/office/drawing/2014/main" id="{DACA5172-609F-BF7F-EA2B-1E7D530633EC}"/>
              </a:ext>
            </a:extLst>
          </p:cNvPr>
          <p:cNvGrpSpPr/>
          <p:nvPr/>
        </p:nvGrpSpPr>
        <p:grpSpPr>
          <a:xfrm>
            <a:off x="4625059" y="2284889"/>
            <a:ext cx="488089" cy="422727"/>
            <a:chOff x="5049725" y="2635825"/>
            <a:chExt cx="481825" cy="451700"/>
          </a:xfrm>
          <a:solidFill>
            <a:schemeClr val="accent2"/>
          </a:solidFill>
        </p:grpSpPr>
        <p:sp>
          <p:nvSpPr>
            <p:cNvPr id="14" name="Google Shape;6023;p76">
              <a:extLst>
                <a:ext uri="{FF2B5EF4-FFF2-40B4-BE49-F238E27FC236}">
                  <a16:creationId xmlns:a16="http://schemas.microsoft.com/office/drawing/2014/main" id="{BA8F2AF8-42E4-B83A-0B0C-13B395380973}"/>
                </a:ext>
              </a:extLst>
            </p:cNvPr>
            <p:cNvSpPr/>
            <p:nvPr/>
          </p:nvSpPr>
          <p:spPr>
            <a:xfrm>
              <a:off x="5135325" y="3031050"/>
              <a:ext cx="310550" cy="56475"/>
            </a:xfrm>
            <a:custGeom>
              <a:avLst/>
              <a:gdLst/>
              <a:ahLst/>
              <a:cxnLst/>
              <a:rect l="l" t="t" r="r" b="b"/>
              <a:pathLst>
                <a:path w="12422" h="2259" extrusionOk="0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" name="Google Shape;6024;p76">
              <a:extLst>
                <a:ext uri="{FF2B5EF4-FFF2-40B4-BE49-F238E27FC236}">
                  <a16:creationId xmlns:a16="http://schemas.microsoft.com/office/drawing/2014/main" id="{5B017524-4B18-7F18-EB79-756DCDEE81D9}"/>
                </a:ext>
              </a:extLst>
            </p:cNvPr>
            <p:cNvSpPr/>
            <p:nvPr/>
          </p:nvSpPr>
          <p:spPr>
            <a:xfrm>
              <a:off x="5049725" y="2946350"/>
              <a:ext cx="481825" cy="56500"/>
            </a:xfrm>
            <a:custGeom>
              <a:avLst/>
              <a:gdLst/>
              <a:ahLst/>
              <a:cxnLst/>
              <a:rect l="l" t="t" r="r" b="b"/>
              <a:pathLst>
                <a:path w="19273" h="2260" extrusionOk="0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" name="Google Shape;6025;p76">
              <a:extLst>
                <a:ext uri="{FF2B5EF4-FFF2-40B4-BE49-F238E27FC236}">
                  <a16:creationId xmlns:a16="http://schemas.microsoft.com/office/drawing/2014/main" id="{46194E03-658D-6798-DE6E-5B8C701211D1}"/>
                </a:ext>
              </a:extLst>
            </p:cNvPr>
            <p:cNvSpPr/>
            <p:nvPr/>
          </p:nvSpPr>
          <p:spPr>
            <a:xfrm>
              <a:off x="504972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7" name="Google Shape;6461;p77">
            <a:extLst>
              <a:ext uri="{FF2B5EF4-FFF2-40B4-BE49-F238E27FC236}">
                <a16:creationId xmlns:a16="http://schemas.microsoft.com/office/drawing/2014/main" id="{D2D7DCC2-78E0-682F-D745-B91B7D2F16E2}"/>
              </a:ext>
            </a:extLst>
          </p:cNvPr>
          <p:cNvGrpSpPr/>
          <p:nvPr/>
        </p:nvGrpSpPr>
        <p:grpSpPr>
          <a:xfrm>
            <a:off x="1070627" y="3663030"/>
            <a:ext cx="464053" cy="484689"/>
            <a:chOff x="-22845575" y="3504075"/>
            <a:chExt cx="296950" cy="295025"/>
          </a:xfrm>
          <a:solidFill>
            <a:schemeClr val="accent2"/>
          </a:solidFill>
        </p:grpSpPr>
        <p:sp>
          <p:nvSpPr>
            <p:cNvPr id="18" name="Google Shape;6462;p77">
              <a:extLst>
                <a:ext uri="{FF2B5EF4-FFF2-40B4-BE49-F238E27FC236}">
                  <a16:creationId xmlns:a16="http://schemas.microsoft.com/office/drawing/2014/main" id="{FC41A32E-10CF-E692-8A7D-910C19DE84FF}"/>
                </a:ext>
              </a:extLst>
            </p:cNvPr>
            <p:cNvSpPr/>
            <p:nvPr/>
          </p:nvSpPr>
          <p:spPr>
            <a:xfrm>
              <a:off x="-22688825" y="3504100"/>
              <a:ext cx="140200" cy="295000"/>
            </a:xfrm>
            <a:custGeom>
              <a:avLst/>
              <a:gdLst/>
              <a:ahLst/>
              <a:cxnLst/>
              <a:rect l="l" t="t" r="r" b="b"/>
              <a:pathLst>
                <a:path w="5608" h="11800" extrusionOk="0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463;p77">
              <a:extLst>
                <a:ext uri="{FF2B5EF4-FFF2-40B4-BE49-F238E27FC236}">
                  <a16:creationId xmlns:a16="http://schemas.microsoft.com/office/drawing/2014/main" id="{529797A0-1A36-1533-C04C-FD87A14F466B}"/>
                </a:ext>
              </a:extLst>
            </p:cNvPr>
            <p:cNvSpPr/>
            <p:nvPr/>
          </p:nvSpPr>
          <p:spPr>
            <a:xfrm>
              <a:off x="-22845575" y="3504075"/>
              <a:ext cx="139425" cy="294250"/>
            </a:xfrm>
            <a:custGeom>
              <a:avLst/>
              <a:gdLst/>
              <a:ahLst/>
              <a:cxnLst/>
              <a:rect l="l" t="t" r="r" b="b"/>
              <a:pathLst>
                <a:path w="5577" h="11770" extrusionOk="0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08;p45">
            <a:extLst>
              <a:ext uri="{FF2B5EF4-FFF2-40B4-BE49-F238E27FC236}">
                <a16:creationId xmlns:a16="http://schemas.microsoft.com/office/drawing/2014/main" id="{6514E860-6475-7C95-C3E0-32B157D964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290" y="1089084"/>
            <a:ext cx="3967582" cy="629988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2"/>
                </a:solidFill>
              </a:rPr>
              <a:t>How does it solve problems?</a:t>
            </a:r>
          </a:p>
        </p:txBody>
      </p:sp>
      <p:sp>
        <p:nvSpPr>
          <p:cNvPr id="10" name="Google Shape;869;p49">
            <a:extLst>
              <a:ext uri="{FF2B5EF4-FFF2-40B4-BE49-F238E27FC236}">
                <a16:creationId xmlns:a16="http://schemas.microsoft.com/office/drawing/2014/main" id="{7A3903D9-0F42-8935-A58D-1C2E1BD575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07290" y="1944147"/>
            <a:ext cx="3723761" cy="21102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sz="1400" dirty="0"/>
              <a:t>Eliminates delays caused by manual processing.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sz="1400" dirty="0"/>
              <a:t>Reduces errors and bias in loan approval.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sz="1400" dirty="0"/>
              <a:t>Enhances efficiency in banking operations.</a:t>
            </a:r>
          </a:p>
          <a:p>
            <a:pPr marL="425450" lvl="0" indent="-285750" algn="l" rtl="0"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sz="1400" dirty="0"/>
              <a:t>Enables scalable and data-driven decisions.</a:t>
            </a:r>
            <a:endParaRPr sz="1400" dirty="0"/>
          </a:p>
        </p:txBody>
      </p:sp>
      <p:pic>
        <p:nvPicPr>
          <p:cNvPr id="13" name="Picture Placeholder 4" descr="A person holding a pen and money&#10;&#10;Description automatically generated">
            <a:extLst>
              <a:ext uri="{FF2B5EF4-FFF2-40B4-BE49-F238E27FC236}">
                <a16:creationId xmlns:a16="http://schemas.microsoft.com/office/drawing/2014/main" id="{DDA52886-F9EF-CB3C-32AE-F3CF360C61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70" r="16870"/>
          <a:stretch>
            <a:fillRect/>
          </a:stretch>
        </p:blipFill>
        <p:spPr>
          <a:xfrm>
            <a:off x="4712951" y="246292"/>
            <a:ext cx="4244687" cy="4244687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 of the Models</a:t>
            </a:r>
            <a:endParaRPr dirty="0"/>
          </a:p>
        </p:txBody>
      </p:sp>
      <p:sp>
        <p:nvSpPr>
          <p:cNvPr id="1134" name="Google Shape;1134;p59"/>
          <p:cNvSpPr txBox="1"/>
          <p:nvPr/>
        </p:nvSpPr>
        <p:spPr>
          <a:xfrm>
            <a:off x="5643550" y="1804025"/>
            <a:ext cx="27384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Accuracy</a:t>
            </a:r>
            <a:endParaRPr sz="2000" b="1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5" name="Google Shape;1135;p59"/>
          <p:cNvSpPr txBox="1"/>
          <p:nvPr/>
        </p:nvSpPr>
        <p:spPr>
          <a:xfrm>
            <a:off x="5643550" y="2571750"/>
            <a:ext cx="2878658" cy="13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Logistic Regression: 92.89%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Decision Tree Classifier: 93.28%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Random Forest Classifier: 95.13%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6" name="Google Shape;1136;p59"/>
          <p:cNvSpPr/>
          <p:nvPr/>
        </p:nvSpPr>
        <p:spPr>
          <a:xfrm>
            <a:off x="5754193" y="1505801"/>
            <a:ext cx="252300" cy="252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EA2A754-EA41-97F4-0EE2-DEDA4D3B8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58612"/>
            <a:ext cx="4668283" cy="328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Pseudocode of Logistic Regression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44756-36D5-731D-7ABD-08CA1DFE52E5}"/>
              </a:ext>
            </a:extLst>
          </p:cNvPr>
          <p:cNvSpPr txBox="1"/>
          <p:nvPr/>
        </p:nvSpPr>
        <p:spPr>
          <a:xfrm>
            <a:off x="667513" y="1159045"/>
            <a:ext cx="390448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BEGIN </a:t>
            </a:r>
          </a:p>
          <a:p>
            <a:r>
              <a:rPr lang="en-US" dirty="0">
                <a:solidFill>
                  <a:schemeClr val="bg2"/>
                </a:solidFill>
              </a:rPr>
              <a:t>     Load dataset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//Data Preparation Handling missing values 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</a:p>
          <a:p>
            <a:r>
              <a:rPr lang="en-US" dirty="0">
                <a:solidFill>
                  <a:schemeClr val="bg2"/>
                </a:solidFill>
              </a:rPr>
              <a:t>          Encoding categorical features </a:t>
            </a:r>
          </a:p>
          <a:p>
            <a:r>
              <a:rPr lang="en-US" dirty="0">
                <a:solidFill>
                  <a:schemeClr val="bg2"/>
                </a:solidFill>
              </a:rPr>
              <a:t>          Normalizing numerical features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//Training and Testing Separating dataset</a:t>
            </a:r>
          </a:p>
          <a:p>
            <a:r>
              <a:rPr lang="en-US" dirty="0">
                <a:solidFill>
                  <a:schemeClr val="bg2"/>
                </a:solidFill>
              </a:rPr>
              <a:t>     into training and testing sets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     Select classification model “Logistic</a:t>
            </a:r>
          </a:p>
          <a:p>
            <a:r>
              <a:rPr lang="en-US" dirty="0">
                <a:solidFill>
                  <a:schemeClr val="bg2"/>
                </a:solidFill>
              </a:rPr>
              <a:t>          Regression”   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              </a:t>
            </a:r>
          </a:p>
          <a:p>
            <a:r>
              <a:rPr lang="en-US" dirty="0">
                <a:solidFill>
                  <a:schemeClr val="bg2"/>
                </a:solidFill>
              </a:rPr>
              <a:t>         Train classification model using training</a:t>
            </a:r>
          </a:p>
          <a:p>
            <a:r>
              <a:rPr lang="en-US" dirty="0">
                <a:solidFill>
                  <a:schemeClr val="bg2"/>
                </a:solidFill>
              </a:rPr>
              <a:t>         set </a:t>
            </a:r>
          </a:p>
          <a:p>
            <a:r>
              <a:rPr lang="en-US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CE860-E4BF-532D-A573-63362BCC59B3}"/>
              </a:ext>
            </a:extLst>
          </p:cNvPr>
          <p:cNvSpPr txBox="1"/>
          <p:nvPr/>
        </p:nvSpPr>
        <p:spPr>
          <a:xfrm>
            <a:off x="4784141" y="1085893"/>
            <a:ext cx="385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     //Evaluation and Prediction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Evaluate model performance on testing set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FUNCTION Predict (input features): 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  <a:r>
              <a:rPr lang="en-US" dirty="0" err="1">
                <a:solidFill>
                  <a:schemeClr val="bg2"/>
                </a:solidFill>
              </a:rPr>
              <a:t>final_features</a:t>
            </a:r>
            <a:r>
              <a:rPr lang="en-US" dirty="0">
                <a:solidFill>
                  <a:schemeClr val="bg2"/>
                </a:solidFill>
              </a:rPr>
              <a:t> = processed (input</a:t>
            </a:r>
          </a:p>
          <a:p>
            <a:r>
              <a:rPr lang="en-US" dirty="0">
                <a:solidFill>
                  <a:schemeClr val="bg2"/>
                </a:solidFill>
              </a:rPr>
              <a:t>          features) 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  <a:r>
              <a:rPr lang="en-US" dirty="0" err="1">
                <a:solidFill>
                  <a:schemeClr val="bg2"/>
                </a:solidFill>
              </a:rPr>
              <a:t>prediction_prob</a:t>
            </a:r>
            <a:r>
              <a:rPr lang="en-US" dirty="0">
                <a:solidFill>
                  <a:schemeClr val="bg2"/>
                </a:solidFill>
              </a:rPr>
              <a:t> =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  <a:r>
              <a:rPr lang="en-US" dirty="0" err="1">
                <a:solidFill>
                  <a:schemeClr val="bg2"/>
                </a:solidFill>
              </a:rPr>
              <a:t>classification_model.Predict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     (</a:t>
            </a:r>
            <a:r>
              <a:rPr lang="en-US" dirty="0" err="1">
                <a:solidFill>
                  <a:schemeClr val="bg2"/>
                </a:solidFill>
              </a:rPr>
              <a:t>final_features</a:t>
            </a:r>
            <a:r>
              <a:rPr lang="en-US" dirty="0">
                <a:solidFill>
                  <a:schemeClr val="bg2"/>
                </a:solidFill>
              </a:rPr>
              <a:t>)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     IF </a:t>
            </a:r>
            <a:r>
              <a:rPr lang="en-US" dirty="0" err="1">
                <a:solidFill>
                  <a:schemeClr val="bg2"/>
                </a:solidFill>
              </a:rPr>
              <a:t>prediction_prob</a:t>
            </a:r>
            <a:r>
              <a:rPr lang="en-US" dirty="0">
                <a:solidFill>
                  <a:schemeClr val="bg2"/>
                </a:solidFill>
              </a:rPr>
              <a:t> &gt;= 0.5 then 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 RETURN "Approved" </a:t>
            </a:r>
          </a:p>
          <a:p>
            <a:r>
              <a:rPr lang="en-US" dirty="0">
                <a:solidFill>
                  <a:schemeClr val="bg2"/>
                </a:solidFill>
              </a:rPr>
              <a:t>         ELSE 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RETURN "Rejected“</a:t>
            </a:r>
          </a:p>
          <a:p>
            <a:r>
              <a:rPr lang="en-US" dirty="0">
                <a:solidFill>
                  <a:schemeClr val="bg2"/>
                </a:solidFill>
              </a:rPr>
              <a:t> </a:t>
            </a:r>
          </a:p>
          <a:p>
            <a:r>
              <a:rPr lang="en-US" dirty="0">
                <a:solidFill>
                  <a:schemeClr val="bg2"/>
                </a:solidFill>
              </a:rPr>
              <a:t>     FUNCTION END </a:t>
            </a:r>
          </a:p>
          <a:p>
            <a:r>
              <a:rPr lang="en-US" dirty="0">
                <a:solidFill>
                  <a:schemeClr val="bg2"/>
                </a:solidFill>
              </a:rPr>
              <a:t>END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Pseudocode of Decision Tree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44756-36D5-731D-7ABD-08CA1DFE52E5}"/>
              </a:ext>
            </a:extLst>
          </p:cNvPr>
          <p:cNvSpPr txBox="1"/>
          <p:nvPr/>
        </p:nvSpPr>
        <p:spPr>
          <a:xfrm>
            <a:off x="667513" y="1159045"/>
            <a:ext cx="390448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BEGIN </a:t>
            </a:r>
          </a:p>
          <a:p>
            <a:r>
              <a:rPr lang="en-US" dirty="0">
                <a:solidFill>
                  <a:schemeClr val="bg2"/>
                </a:solidFill>
              </a:rPr>
              <a:t>     Load dataset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//Data Preparation Handling missing values 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</a:p>
          <a:p>
            <a:r>
              <a:rPr lang="en-US" dirty="0">
                <a:solidFill>
                  <a:schemeClr val="bg2"/>
                </a:solidFill>
              </a:rPr>
              <a:t>          Encoding categorical features </a:t>
            </a:r>
          </a:p>
          <a:p>
            <a:r>
              <a:rPr lang="en-US" dirty="0">
                <a:solidFill>
                  <a:schemeClr val="bg2"/>
                </a:solidFill>
              </a:rPr>
              <a:t>          Normalizing numerical features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//Training and Testing Separating dataset</a:t>
            </a:r>
          </a:p>
          <a:p>
            <a:r>
              <a:rPr lang="en-US" dirty="0">
                <a:solidFill>
                  <a:schemeClr val="bg2"/>
                </a:solidFill>
              </a:rPr>
              <a:t>     into training and testing sets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     Select regression model “Decision Tree</a:t>
            </a:r>
          </a:p>
          <a:p>
            <a:r>
              <a:rPr lang="en-US" dirty="0">
                <a:solidFill>
                  <a:schemeClr val="bg2"/>
                </a:solidFill>
              </a:rPr>
              <a:t>          Classifier”   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              </a:t>
            </a:r>
          </a:p>
          <a:p>
            <a:r>
              <a:rPr lang="en-US" dirty="0">
                <a:solidFill>
                  <a:schemeClr val="bg2"/>
                </a:solidFill>
              </a:rPr>
              <a:t>         Train classification model using training</a:t>
            </a:r>
          </a:p>
          <a:p>
            <a:r>
              <a:rPr lang="en-US" dirty="0">
                <a:solidFill>
                  <a:schemeClr val="bg2"/>
                </a:solidFill>
              </a:rPr>
              <a:t>         set </a:t>
            </a:r>
          </a:p>
          <a:p>
            <a:r>
              <a:rPr lang="en-US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CE860-E4BF-532D-A573-63362BCC59B3}"/>
              </a:ext>
            </a:extLst>
          </p:cNvPr>
          <p:cNvSpPr txBox="1"/>
          <p:nvPr/>
        </p:nvSpPr>
        <p:spPr>
          <a:xfrm>
            <a:off x="4784141" y="1093208"/>
            <a:ext cx="385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     //Evaluation and Prediction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Evaluate model performance on testing set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FUNCTION Predict (input features): 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  <a:r>
              <a:rPr lang="en-US" dirty="0" err="1">
                <a:solidFill>
                  <a:schemeClr val="bg2"/>
                </a:solidFill>
              </a:rPr>
              <a:t>final_features</a:t>
            </a:r>
            <a:r>
              <a:rPr lang="en-US" dirty="0">
                <a:solidFill>
                  <a:schemeClr val="bg2"/>
                </a:solidFill>
              </a:rPr>
              <a:t> = processed (input</a:t>
            </a:r>
          </a:p>
          <a:p>
            <a:r>
              <a:rPr lang="en-US" dirty="0">
                <a:solidFill>
                  <a:schemeClr val="bg2"/>
                </a:solidFill>
              </a:rPr>
              <a:t>          features) 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  <a:r>
              <a:rPr lang="en-US" dirty="0" err="1">
                <a:solidFill>
                  <a:schemeClr val="bg2"/>
                </a:solidFill>
              </a:rPr>
              <a:t>prediction_prob</a:t>
            </a:r>
            <a:r>
              <a:rPr lang="en-US" dirty="0">
                <a:solidFill>
                  <a:schemeClr val="bg2"/>
                </a:solidFill>
              </a:rPr>
              <a:t> =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  <a:r>
              <a:rPr lang="en-US" dirty="0" err="1">
                <a:solidFill>
                  <a:schemeClr val="bg2"/>
                </a:solidFill>
              </a:rPr>
              <a:t>classification_model.Predict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     (</a:t>
            </a:r>
            <a:r>
              <a:rPr lang="en-US" dirty="0" err="1">
                <a:solidFill>
                  <a:schemeClr val="bg2"/>
                </a:solidFill>
              </a:rPr>
              <a:t>final_features</a:t>
            </a:r>
            <a:r>
              <a:rPr lang="en-US" dirty="0">
                <a:solidFill>
                  <a:schemeClr val="bg2"/>
                </a:solidFill>
              </a:rPr>
              <a:t>)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     IF </a:t>
            </a:r>
            <a:r>
              <a:rPr lang="en-US" dirty="0" err="1">
                <a:solidFill>
                  <a:schemeClr val="bg2"/>
                </a:solidFill>
              </a:rPr>
              <a:t>prediction_prob</a:t>
            </a:r>
            <a:r>
              <a:rPr lang="en-US" dirty="0">
                <a:solidFill>
                  <a:schemeClr val="bg2"/>
                </a:solidFill>
              </a:rPr>
              <a:t> == 1 then 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 RETURN "Approved" </a:t>
            </a:r>
          </a:p>
          <a:p>
            <a:r>
              <a:rPr lang="en-US" dirty="0">
                <a:solidFill>
                  <a:schemeClr val="bg2"/>
                </a:solidFill>
              </a:rPr>
              <a:t>         ELSE 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RETURN "Rejected"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FUNCTION END </a:t>
            </a:r>
          </a:p>
          <a:p>
            <a:r>
              <a:rPr lang="en-US" dirty="0">
                <a:solidFill>
                  <a:schemeClr val="bg2"/>
                </a:solidFill>
              </a:rPr>
              <a:t>END </a:t>
            </a:r>
          </a:p>
        </p:txBody>
      </p:sp>
    </p:spTree>
    <p:extLst>
      <p:ext uri="{BB962C8B-B14F-4D97-AF65-F5344CB8AC3E}">
        <p14:creationId xmlns:p14="http://schemas.microsoft.com/office/powerpoint/2010/main" val="2914745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Pseudocode of Random Forest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44756-36D5-731D-7ABD-08CA1DFE52E5}"/>
              </a:ext>
            </a:extLst>
          </p:cNvPr>
          <p:cNvSpPr txBox="1"/>
          <p:nvPr/>
        </p:nvSpPr>
        <p:spPr>
          <a:xfrm>
            <a:off x="667513" y="1159045"/>
            <a:ext cx="390448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BEGIN </a:t>
            </a:r>
          </a:p>
          <a:p>
            <a:r>
              <a:rPr lang="en-US" dirty="0">
                <a:solidFill>
                  <a:schemeClr val="bg2"/>
                </a:solidFill>
              </a:rPr>
              <a:t>     Load dataset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//Data Preparation Handling missing values 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</a:p>
          <a:p>
            <a:r>
              <a:rPr lang="en-US" dirty="0">
                <a:solidFill>
                  <a:schemeClr val="bg2"/>
                </a:solidFill>
              </a:rPr>
              <a:t>          Encoding categorical features </a:t>
            </a:r>
          </a:p>
          <a:p>
            <a:r>
              <a:rPr lang="en-US" dirty="0">
                <a:solidFill>
                  <a:schemeClr val="bg2"/>
                </a:solidFill>
              </a:rPr>
              <a:t>          Normalizing numerical features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//Training and Testing Separating dataset</a:t>
            </a:r>
          </a:p>
          <a:p>
            <a:r>
              <a:rPr lang="en-US" dirty="0">
                <a:solidFill>
                  <a:schemeClr val="bg2"/>
                </a:solidFill>
              </a:rPr>
              <a:t>     into training and testing sets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     Select regression model “Random</a:t>
            </a:r>
          </a:p>
          <a:p>
            <a:r>
              <a:rPr lang="en-US" dirty="0">
                <a:solidFill>
                  <a:schemeClr val="bg2"/>
                </a:solidFill>
              </a:rPr>
              <a:t>          Forest Classifier”   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              </a:t>
            </a:r>
          </a:p>
          <a:p>
            <a:r>
              <a:rPr lang="en-US" dirty="0">
                <a:solidFill>
                  <a:schemeClr val="bg2"/>
                </a:solidFill>
              </a:rPr>
              <a:t>         Train classification model using training</a:t>
            </a:r>
          </a:p>
          <a:p>
            <a:r>
              <a:rPr lang="en-US" dirty="0">
                <a:solidFill>
                  <a:schemeClr val="bg2"/>
                </a:solidFill>
              </a:rPr>
              <a:t>         set </a:t>
            </a:r>
          </a:p>
          <a:p>
            <a:r>
              <a:rPr lang="en-US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3CE860-E4BF-532D-A573-63362BCC59B3}"/>
              </a:ext>
            </a:extLst>
          </p:cNvPr>
          <p:cNvSpPr txBox="1"/>
          <p:nvPr/>
        </p:nvSpPr>
        <p:spPr>
          <a:xfrm>
            <a:off x="4784141" y="1093208"/>
            <a:ext cx="385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     //Evaluation and Prediction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Evaluate model performance on testing set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FUNCTION Predict (input features): 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  <a:r>
              <a:rPr lang="en-US" dirty="0" err="1">
                <a:solidFill>
                  <a:schemeClr val="bg2"/>
                </a:solidFill>
              </a:rPr>
              <a:t>final_features</a:t>
            </a:r>
            <a:r>
              <a:rPr lang="en-US" dirty="0">
                <a:solidFill>
                  <a:schemeClr val="bg2"/>
                </a:solidFill>
              </a:rPr>
              <a:t> = processed (input</a:t>
            </a:r>
          </a:p>
          <a:p>
            <a:r>
              <a:rPr lang="en-US" dirty="0">
                <a:solidFill>
                  <a:schemeClr val="bg2"/>
                </a:solidFill>
              </a:rPr>
              <a:t>          features) 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  <a:r>
              <a:rPr lang="en-US" dirty="0" err="1">
                <a:solidFill>
                  <a:schemeClr val="bg2"/>
                </a:solidFill>
              </a:rPr>
              <a:t>prediction_prob</a:t>
            </a:r>
            <a:r>
              <a:rPr lang="en-US" dirty="0">
                <a:solidFill>
                  <a:schemeClr val="bg2"/>
                </a:solidFill>
              </a:rPr>
              <a:t> =</a:t>
            </a:r>
          </a:p>
          <a:p>
            <a:r>
              <a:rPr lang="en-US" dirty="0">
                <a:solidFill>
                  <a:schemeClr val="bg2"/>
                </a:solidFill>
              </a:rPr>
              <a:t>          </a:t>
            </a:r>
            <a:r>
              <a:rPr lang="en-US" dirty="0" err="1">
                <a:solidFill>
                  <a:schemeClr val="bg2"/>
                </a:solidFill>
              </a:rPr>
              <a:t>classification_model.Predict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     (</a:t>
            </a:r>
            <a:r>
              <a:rPr lang="en-US" dirty="0" err="1">
                <a:solidFill>
                  <a:schemeClr val="bg2"/>
                </a:solidFill>
              </a:rPr>
              <a:t>final_features</a:t>
            </a:r>
            <a:r>
              <a:rPr lang="en-US" dirty="0">
                <a:solidFill>
                  <a:schemeClr val="bg2"/>
                </a:solidFill>
              </a:rPr>
              <a:t>)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     IF </a:t>
            </a:r>
            <a:r>
              <a:rPr lang="en-US" dirty="0" err="1">
                <a:solidFill>
                  <a:schemeClr val="bg2"/>
                </a:solidFill>
              </a:rPr>
              <a:t>prediction_prob</a:t>
            </a:r>
            <a:r>
              <a:rPr lang="en-US" dirty="0">
                <a:solidFill>
                  <a:schemeClr val="bg2"/>
                </a:solidFill>
              </a:rPr>
              <a:t> == 1 then 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 RETURN "Approved" </a:t>
            </a:r>
          </a:p>
          <a:p>
            <a:r>
              <a:rPr lang="en-US" dirty="0">
                <a:solidFill>
                  <a:schemeClr val="bg2"/>
                </a:solidFill>
              </a:rPr>
              <a:t>         ELSE </a:t>
            </a:r>
          </a:p>
          <a:p>
            <a:r>
              <a:rPr lang="en-US" dirty="0">
                <a:solidFill>
                  <a:schemeClr val="bg2"/>
                </a:solidFill>
              </a:rPr>
              <a:t>              RETURN "Rejected"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  FUNCTION END </a:t>
            </a:r>
          </a:p>
          <a:p>
            <a:r>
              <a:rPr lang="en-US" dirty="0">
                <a:solidFill>
                  <a:schemeClr val="bg2"/>
                </a:solidFill>
              </a:rPr>
              <a:t>END </a:t>
            </a:r>
          </a:p>
        </p:txBody>
      </p:sp>
    </p:spTree>
    <p:extLst>
      <p:ext uri="{BB962C8B-B14F-4D97-AF65-F5344CB8AC3E}">
        <p14:creationId xmlns:p14="http://schemas.microsoft.com/office/powerpoint/2010/main" val="3645128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0"/>
          <p:cNvSpPr txBox="1">
            <a:spLocks noGrp="1"/>
          </p:cNvSpPr>
          <p:nvPr>
            <p:ph type="title"/>
          </p:nvPr>
        </p:nvSpPr>
        <p:spPr>
          <a:xfrm>
            <a:off x="807782" y="1300902"/>
            <a:ext cx="3866631" cy="1990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Flowchart of </a:t>
            </a:r>
            <a:br>
              <a:rPr lang="en" dirty="0"/>
            </a:br>
            <a:r>
              <a:rPr lang="en" dirty="0"/>
              <a:t>Logistic Regression</a:t>
            </a:r>
            <a:endParaRPr dirty="0"/>
          </a:p>
        </p:txBody>
      </p:sp>
      <p:pic>
        <p:nvPicPr>
          <p:cNvPr id="2" name="Picture 1" descr="A diagram of a model&#10;&#10;Description automatically generated">
            <a:extLst>
              <a:ext uri="{FF2B5EF4-FFF2-40B4-BE49-F238E27FC236}">
                <a16:creationId xmlns:a16="http://schemas.microsoft.com/office/drawing/2014/main" id="{11101946-0B81-A3B1-38F0-D8CD3661B8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7" r="26757"/>
          <a:stretch/>
        </p:blipFill>
        <p:spPr>
          <a:xfrm>
            <a:off x="5325467" y="87782"/>
            <a:ext cx="2523742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0"/>
          <p:cNvSpPr txBox="1">
            <a:spLocks noGrp="1"/>
          </p:cNvSpPr>
          <p:nvPr>
            <p:ph type="title"/>
          </p:nvPr>
        </p:nvSpPr>
        <p:spPr>
          <a:xfrm>
            <a:off x="807782" y="1300902"/>
            <a:ext cx="3866631" cy="1990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Flowchart of </a:t>
            </a:r>
            <a:br>
              <a:rPr lang="en" dirty="0"/>
            </a:br>
            <a:r>
              <a:rPr lang="en" dirty="0"/>
              <a:t>Decision Tree Classifier</a:t>
            </a:r>
            <a:endParaRPr dirty="0"/>
          </a:p>
        </p:txBody>
      </p:sp>
      <p:pic>
        <p:nvPicPr>
          <p:cNvPr id="3" name="Picture 2" descr="A diagram of a model&#10;&#10;Description automatically generated">
            <a:extLst>
              <a:ext uri="{FF2B5EF4-FFF2-40B4-BE49-F238E27FC236}">
                <a16:creationId xmlns:a16="http://schemas.microsoft.com/office/drawing/2014/main" id="{59C62589-3D13-8276-811A-CDD1F897AC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5" r="20635"/>
          <a:stretch/>
        </p:blipFill>
        <p:spPr>
          <a:xfrm>
            <a:off x="5281575" y="109728"/>
            <a:ext cx="2728570" cy="466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18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0"/>
          <p:cNvSpPr txBox="1">
            <a:spLocks noGrp="1"/>
          </p:cNvSpPr>
          <p:nvPr>
            <p:ph type="title"/>
          </p:nvPr>
        </p:nvSpPr>
        <p:spPr>
          <a:xfrm>
            <a:off x="807782" y="1300902"/>
            <a:ext cx="3866631" cy="1990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Flowchart of </a:t>
            </a:r>
            <a:br>
              <a:rPr lang="en" dirty="0"/>
            </a:br>
            <a:r>
              <a:rPr lang="en" dirty="0"/>
              <a:t>Random Forest Classifier</a:t>
            </a:r>
            <a:endParaRPr dirty="0"/>
          </a:p>
        </p:txBody>
      </p:sp>
      <p:pic>
        <p:nvPicPr>
          <p:cNvPr id="2" name="Picture 1" descr="A diagram of a model&#10;&#10;Description automatically generated">
            <a:extLst>
              <a:ext uri="{FF2B5EF4-FFF2-40B4-BE49-F238E27FC236}">
                <a16:creationId xmlns:a16="http://schemas.microsoft.com/office/drawing/2014/main" id="{3C68C0C6-71DD-DE5B-ABF9-6F769F2A1D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7" r="21788"/>
          <a:stretch/>
        </p:blipFill>
        <p:spPr>
          <a:xfrm>
            <a:off x="5325466" y="80468"/>
            <a:ext cx="2596896" cy="477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51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D9B47-4291-23C7-B43D-F74041933AB4}"/>
              </a:ext>
            </a:extLst>
          </p:cNvPr>
          <p:cNvSpPr txBox="1"/>
          <p:nvPr/>
        </p:nvSpPr>
        <p:spPr>
          <a:xfrm>
            <a:off x="779068" y="1421950"/>
            <a:ext cx="6894576" cy="231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loan approval prediction AI model demonstrates how machine learning can solve real-world banking problems. It reduces manual paperwork, speeds up decisions, and ensures consistent, unbiased results. Models like Logistic Regression, Decision Tree, and Random Forest effectively classify loan applications.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Overall, this approach improves efficiency and reliability in financial decision-making.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ile of money on a table&#10;&#10;Description automatically generated">
            <a:extLst>
              <a:ext uri="{FF2B5EF4-FFF2-40B4-BE49-F238E27FC236}">
                <a16:creationId xmlns:a16="http://schemas.microsoft.com/office/drawing/2014/main" id="{2C258EF2-455A-6FD1-DE30-B45A9EC21FB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12500" b="12500"/>
          <a:stretch>
            <a:fillRect/>
          </a:stretch>
        </p:blipFill>
        <p:spPr/>
      </p:pic>
      <p:sp>
        <p:nvSpPr>
          <p:cNvPr id="14" name="Google Shape;935;p51">
            <a:extLst>
              <a:ext uri="{FF2B5EF4-FFF2-40B4-BE49-F238E27FC236}">
                <a16:creationId xmlns:a16="http://schemas.microsoft.com/office/drawing/2014/main" id="{D578180A-A5F4-91A8-B64A-31CCDB53DC95}"/>
              </a:ext>
            </a:extLst>
          </p:cNvPr>
          <p:cNvSpPr txBox="1"/>
          <p:nvPr/>
        </p:nvSpPr>
        <p:spPr>
          <a:xfrm>
            <a:off x="0" y="1873742"/>
            <a:ext cx="9143999" cy="139601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Thank You.</a:t>
            </a:r>
            <a:endParaRPr sz="4000" b="1" dirty="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830</Words>
  <Application>Microsoft Office PowerPoint</Application>
  <PresentationFormat>On-screen Show (16:9)</PresentationFormat>
  <Paragraphs>173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Lato</vt:lpstr>
      <vt:lpstr>Open Sans</vt:lpstr>
      <vt:lpstr>Sora</vt:lpstr>
      <vt:lpstr>AI Essentials Workshop by Slidesgo</vt:lpstr>
      <vt:lpstr>LoanBuddy: Loan Approval Prediction</vt:lpstr>
      <vt:lpstr>Table of contents</vt:lpstr>
      <vt:lpstr>Introduction</vt:lpstr>
      <vt:lpstr>Research</vt:lpstr>
      <vt:lpstr>Why LoanBuddy?</vt:lpstr>
      <vt:lpstr>Solution</vt:lpstr>
      <vt:lpstr>How does it solve problems?</vt:lpstr>
      <vt:lpstr>Evaluation of the Models</vt:lpstr>
      <vt:lpstr>Pseudocode of Logistic Regression</vt:lpstr>
      <vt:lpstr>Pseudocode of Decision Tree</vt:lpstr>
      <vt:lpstr>Pseudocode of Random Forest</vt:lpstr>
      <vt:lpstr>Flowchart of  Logistic Regression</vt:lpstr>
      <vt:lpstr>Flowchart of  Decision Tree Classifier</vt:lpstr>
      <vt:lpstr>Flowchart of  Random Forest Classifier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LoanBuddy: Loan Approval Prediction</dc:title>
  <dc:creator>ENVY</dc:creator>
  <cp:lastModifiedBy>Prastuti Acharya</cp:lastModifiedBy>
  <cp:revision>6</cp:revision>
  <dcterms:modified xsi:type="dcterms:W3CDTF">2026-01-19T13:47:12Z</dcterms:modified>
</cp:coreProperties>
</file>